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63" r:id="rId4"/>
    <p:sldId id="262" r:id="rId5"/>
    <p:sldId id="269" r:id="rId6"/>
    <p:sldId id="270" r:id="rId7"/>
    <p:sldId id="271" r:id="rId8"/>
    <p:sldId id="264" r:id="rId9"/>
    <p:sldId id="272" r:id="rId10"/>
    <p:sldId id="273" r:id="rId11"/>
    <p:sldId id="274" r:id="rId12"/>
    <p:sldId id="265" r:id="rId14"/>
    <p:sldId id="275" r:id="rId15"/>
    <p:sldId id="276" r:id="rId16"/>
    <p:sldId id="277" r:id="rId17"/>
    <p:sldId id="266" r:id="rId18"/>
    <p:sldId id="278" r:id="rId19"/>
    <p:sldId id="279" r:id="rId20"/>
    <p:sldId id="280" r:id="rId21"/>
    <p:sldId id="267" r:id="rId22"/>
    <p:sldId id="281" r:id="rId23"/>
    <p:sldId id="282" r:id="rId24"/>
    <p:sldId id="283" r:id="rId25"/>
    <p:sldId id="268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3627"/>
    <a:srgbClr val="C85E52"/>
    <a:srgbClr val="C34027"/>
    <a:srgbClr val="E9BFB4"/>
    <a:srgbClr val="FFB9A9"/>
    <a:srgbClr val="F56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9" autoAdjust="0"/>
    <p:restoredTop sz="92626"/>
  </p:normalViewPr>
  <p:slideViewPr>
    <p:cSldViewPr snapToGrid="0" snapToObjects="1">
      <p:cViewPr varScale="1">
        <p:scale>
          <a:sx n="125" d="100"/>
          <a:sy n="125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24299-27C1-354C-AEC0-5AEFAB0CF128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DAD2C10-0510-D04A-85DB-FD651F9D0147}">
      <dgm:prSet phldrT="[文本]" custT="1"/>
      <dgm:spPr/>
      <dgm:t>
        <a:bodyPr/>
        <a:lstStyle/>
        <a:p>
          <a:r>
            <a:rPr lang="en-US" altLang="zh-CN" sz="2000" b="1" dirty="0"/>
            <a:t>MAFB</a:t>
          </a:r>
          <a:endParaRPr lang="zh-CN" altLang="en-US" sz="2800" b="1" dirty="0"/>
        </a:p>
      </dgm:t>
    </dgm:pt>
    <dgm:pt modelId="{F11A687C-797A-F14C-8E3F-39CA3ECE2098}" cxnId="{9CE16CF9-B0E8-BA4B-A55E-25E2D1B6E235}" type="parTrans">
      <dgm:prSet/>
      <dgm:spPr/>
      <dgm:t>
        <a:bodyPr/>
        <a:lstStyle/>
        <a:p>
          <a:endParaRPr lang="zh-CN" altLang="en-US"/>
        </a:p>
      </dgm:t>
    </dgm:pt>
    <dgm:pt modelId="{5FCBC388-B396-AC45-9685-60225EB7E2A6}" cxnId="{9CE16CF9-B0E8-BA4B-A55E-25E2D1B6E235}" type="sibTrans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3B462249-8146-A742-AADA-56E93450D86E}">
      <dgm:prSet phldrT="[文本]" custT="1"/>
      <dgm:spPr/>
      <dgm:t>
        <a:bodyPr/>
        <a:lstStyle/>
        <a:p>
          <a:r>
            <a:rPr lang="en-US" altLang="zh-CN" sz="2000" b="1" dirty="0"/>
            <a:t>Bidirectional</a:t>
          </a:r>
          <a:r>
            <a:rPr lang="zh-CN" altLang="en-US" sz="2000" b="1" dirty="0"/>
            <a:t> </a:t>
          </a:r>
          <a:r>
            <a:rPr lang="en-US" altLang="zh-CN" sz="2000" b="1" dirty="0"/>
            <a:t>Replay</a:t>
          </a:r>
          <a:endParaRPr lang="zh-CN" altLang="en-US" sz="2000" b="1" dirty="0"/>
        </a:p>
      </dgm:t>
    </dgm:pt>
    <dgm:pt modelId="{290F0822-BBC4-8446-8716-4554D6431C4C}" cxnId="{6787FCD2-FAF3-4C40-963D-A874C7E98734}" type="parTrans">
      <dgm:prSet/>
      <dgm:spPr/>
      <dgm:t>
        <a:bodyPr/>
        <a:lstStyle/>
        <a:p>
          <a:endParaRPr lang="zh-CN" altLang="en-US"/>
        </a:p>
      </dgm:t>
    </dgm:pt>
    <dgm:pt modelId="{27E66B20-0DBE-9D49-82F1-A43541C1FDF9}" cxnId="{6787FCD2-FAF3-4C40-963D-A874C7E98734}" type="sibTrans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3FEE621A-E715-FD44-B683-6B7B17618EF7}">
      <dgm:prSet phldrT="[文本]" custT="1"/>
      <dgm:spPr/>
      <dgm:t>
        <a:bodyPr/>
        <a:lstStyle/>
        <a:p>
          <a:pPr>
            <a:buNone/>
          </a:pPr>
          <a:r>
            <a:rPr lang="en-US" sz="2000" b="1" dirty="0"/>
            <a:t>FBTI</a:t>
          </a:r>
          <a:endParaRPr lang="zh-CN" altLang="en-US" sz="2800" dirty="0"/>
        </a:p>
      </dgm:t>
    </dgm:pt>
    <dgm:pt modelId="{BEC44A03-D43B-BB43-8FCA-9672F3795426}" cxnId="{D1BFF813-1050-B94E-B851-CB5BB1FEAEC4}" type="parTrans">
      <dgm:prSet/>
      <dgm:spPr/>
      <dgm:t>
        <a:bodyPr/>
        <a:lstStyle/>
        <a:p>
          <a:endParaRPr lang="zh-CN" altLang="en-US"/>
        </a:p>
      </dgm:t>
    </dgm:pt>
    <dgm:pt modelId="{435E3EA6-1FBB-8D4F-8645-985DDA27767B}" cxnId="{D1BFF813-1050-B94E-B851-CB5BB1FEAEC4}" type="sibTrans">
      <dgm:prSet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endParaRPr lang="zh-CN" altLang="en-US"/>
        </a:p>
      </dgm:t>
    </dgm:pt>
    <dgm:pt modelId="{445E6A8C-2BCE-A542-A67A-2E5CF50F65A0}" type="pres">
      <dgm:prSet presAssocID="{15424299-27C1-354C-AEC0-5AEFAB0CF128}" presName="cycle" presStyleCnt="0">
        <dgm:presLayoutVars>
          <dgm:dir/>
          <dgm:resizeHandles val="exact"/>
        </dgm:presLayoutVars>
      </dgm:prSet>
      <dgm:spPr/>
    </dgm:pt>
    <dgm:pt modelId="{E78C3188-577C-C949-98A8-0CD5300F8827}" type="pres">
      <dgm:prSet presAssocID="{7DAD2C10-0510-D04A-85DB-FD651F9D0147}" presName="dummy" presStyleCnt="0"/>
      <dgm:spPr/>
    </dgm:pt>
    <dgm:pt modelId="{6E2CD0F5-994A-9349-B2CC-76CF5BFAA178}" type="pres">
      <dgm:prSet presAssocID="{7DAD2C10-0510-D04A-85DB-FD651F9D0147}" presName="node" presStyleLbl="revTx" presStyleIdx="0" presStyleCnt="3">
        <dgm:presLayoutVars>
          <dgm:bulletEnabled val="1"/>
        </dgm:presLayoutVars>
      </dgm:prSet>
      <dgm:spPr/>
    </dgm:pt>
    <dgm:pt modelId="{DB30ADE8-E1D5-B449-B8B9-C348A1F3C4ED}" type="pres">
      <dgm:prSet presAssocID="{5FCBC388-B396-AC45-9685-60225EB7E2A6}" presName="sibTrans" presStyleLbl="node1" presStyleIdx="0" presStyleCnt="3"/>
      <dgm:spPr/>
    </dgm:pt>
    <dgm:pt modelId="{5B1E370A-D0D9-8040-B151-AD792088E774}" type="pres">
      <dgm:prSet presAssocID="{3B462249-8146-A742-AADA-56E93450D86E}" presName="dummy" presStyleCnt="0"/>
      <dgm:spPr/>
    </dgm:pt>
    <dgm:pt modelId="{BEDF9C23-7807-4540-9A7B-3D422C4EE623}" type="pres">
      <dgm:prSet presAssocID="{3B462249-8146-A742-AADA-56E93450D86E}" presName="node" presStyleLbl="revTx" presStyleIdx="1" presStyleCnt="3" custScaleX="130384" custRadScaleRad="141156" custRadScaleInc="1567">
        <dgm:presLayoutVars>
          <dgm:bulletEnabled val="1"/>
        </dgm:presLayoutVars>
      </dgm:prSet>
      <dgm:spPr/>
    </dgm:pt>
    <dgm:pt modelId="{346B135F-5EA2-B64F-8827-CA990ED0CDFE}" type="pres">
      <dgm:prSet presAssocID="{27E66B20-0DBE-9D49-82F1-A43541C1FDF9}" presName="sibTrans" presStyleLbl="node1" presStyleIdx="1" presStyleCnt="3"/>
      <dgm:spPr/>
    </dgm:pt>
    <dgm:pt modelId="{136E88B7-F08B-2249-9750-517415450D1D}" type="pres">
      <dgm:prSet presAssocID="{3FEE621A-E715-FD44-B683-6B7B17618EF7}" presName="dummy" presStyleCnt="0"/>
      <dgm:spPr/>
    </dgm:pt>
    <dgm:pt modelId="{7E834778-B688-0942-A9B5-2344BAABD44A}" type="pres">
      <dgm:prSet presAssocID="{3FEE621A-E715-FD44-B683-6B7B17618EF7}" presName="node" presStyleLbl="revTx" presStyleIdx="2" presStyleCnt="3">
        <dgm:presLayoutVars>
          <dgm:bulletEnabled val="1"/>
        </dgm:presLayoutVars>
      </dgm:prSet>
      <dgm:spPr/>
    </dgm:pt>
    <dgm:pt modelId="{DAAAA8DD-930F-AF42-B67B-EADBD78FBC5A}" type="pres">
      <dgm:prSet presAssocID="{435E3EA6-1FBB-8D4F-8645-985DDA27767B}" presName="sibTrans" presStyleLbl="node1" presStyleIdx="2" presStyleCnt="3"/>
      <dgm:spPr/>
    </dgm:pt>
  </dgm:ptLst>
  <dgm:cxnLst>
    <dgm:cxn modelId="{69BBF910-5BEF-D54C-B9E5-BE71F9E3DC07}" type="presOf" srcId="{3FEE621A-E715-FD44-B683-6B7B17618EF7}" destId="{7E834778-B688-0942-A9B5-2344BAABD44A}" srcOrd="0" destOrd="0" presId="urn:microsoft.com/office/officeart/2005/8/layout/cycle1"/>
    <dgm:cxn modelId="{D1BFF813-1050-B94E-B851-CB5BB1FEAEC4}" srcId="{15424299-27C1-354C-AEC0-5AEFAB0CF128}" destId="{3FEE621A-E715-FD44-B683-6B7B17618EF7}" srcOrd="2" destOrd="0" parTransId="{BEC44A03-D43B-BB43-8FCA-9672F3795426}" sibTransId="{435E3EA6-1FBB-8D4F-8645-985DDA27767B}"/>
    <dgm:cxn modelId="{8A0A7139-FF52-004F-A5C1-EBA7635331C4}" type="presOf" srcId="{3B462249-8146-A742-AADA-56E93450D86E}" destId="{BEDF9C23-7807-4540-9A7B-3D422C4EE623}" srcOrd="0" destOrd="0" presId="urn:microsoft.com/office/officeart/2005/8/layout/cycle1"/>
    <dgm:cxn modelId="{CED73347-CD72-824C-91C3-ED021E8DF8B4}" type="presOf" srcId="{5FCBC388-B396-AC45-9685-60225EB7E2A6}" destId="{DB30ADE8-E1D5-B449-B8B9-C348A1F3C4ED}" srcOrd="0" destOrd="0" presId="urn:microsoft.com/office/officeart/2005/8/layout/cycle1"/>
    <dgm:cxn modelId="{24E57090-C63E-6641-84FA-EDBC58EE6630}" type="presOf" srcId="{435E3EA6-1FBB-8D4F-8645-985DDA27767B}" destId="{DAAAA8DD-930F-AF42-B67B-EADBD78FBC5A}" srcOrd="0" destOrd="0" presId="urn:microsoft.com/office/officeart/2005/8/layout/cycle1"/>
    <dgm:cxn modelId="{D4421A9D-29D4-7E48-971D-0FD565BDDF2D}" type="presOf" srcId="{7DAD2C10-0510-D04A-85DB-FD651F9D0147}" destId="{6E2CD0F5-994A-9349-B2CC-76CF5BFAA178}" srcOrd="0" destOrd="0" presId="urn:microsoft.com/office/officeart/2005/8/layout/cycle1"/>
    <dgm:cxn modelId="{5CE77BD0-7022-3848-8F58-6F3B84A3A0FA}" type="presOf" srcId="{15424299-27C1-354C-AEC0-5AEFAB0CF128}" destId="{445E6A8C-2BCE-A542-A67A-2E5CF50F65A0}" srcOrd="0" destOrd="0" presId="urn:microsoft.com/office/officeart/2005/8/layout/cycle1"/>
    <dgm:cxn modelId="{6787FCD2-FAF3-4C40-963D-A874C7E98734}" srcId="{15424299-27C1-354C-AEC0-5AEFAB0CF128}" destId="{3B462249-8146-A742-AADA-56E93450D86E}" srcOrd="1" destOrd="0" parTransId="{290F0822-BBC4-8446-8716-4554D6431C4C}" sibTransId="{27E66B20-0DBE-9D49-82F1-A43541C1FDF9}"/>
    <dgm:cxn modelId="{24621FDB-FC5B-254E-A085-EE390576041D}" type="presOf" srcId="{27E66B20-0DBE-9D49-82F1-A43541C1FDF9}" destId="{346B135F-5EA2-B64F-8827-CA990ED0CDFE}" srcOrd="0" destOrd="0" presId="urn:microsoft.com/office/officeart/2005/8/layout/cycle1"/>
    <dgm:cxn modelId="{9CE16CF9-B0E8-BA4B-A55E-25E2D1B6E235}" srcId="{15424299-27C1-354C-AEC0-5AEFAB0CF128}" destId="{7DAD2C10-0510-D04A-85DB-FD651F9D0147}" srcOrd="0" destOrd="0" parTransId="{F11A687C-797A-F14C-8E3F-39CA3ECE2098}" sibTransId="{5FCBC388-B396-AC45-9685-60225EB7E2A6}"/>
    <dgm:cxn modelId="{E79E2CFA-6021-2249-AD48-7665F88A57DD}" type="presParOf" srcId="{445E6A8C-2BCE-A542-A67A-2E5CF50F65A0}" destId="{E78C3188-577C-C949-98A8-0CD5300F8827}" srcOrd="0" destOrd="0" presId="urn:microsoft.com/office/officeart/2005/8/layout/cycle1"/>
    <dgm:cxn modelId="{BD24D555-976C-5546-BE7A-DB2DCC85E0AF}" type="presParOf" srcId="{445E6A8C-2BCE-A542-A67A-2E5CF50F65A0}" destId="{6E2CD0F5-994A-9349-B2CC-76CF5BFAA178}" srcOrd="1" destOrd="0" presId="urn:microsoft.com/office/officeart/2005/8/layout/cycle1"/>
    <dgm:cxn modelId="{33C496E5-3E9A-C54B-AECB-798FA35C1566}" type="presParOf" srcId="{445E6A8C-2BCE-A542-A67A-2E5CF50F65A0}" destId="{DB30ADE8-E1D5-B449-B8B9-C348A1F3C4ED}" srcOrd="2" destOrd="0" presId="urn:microsoft.com/office/officeart/2005/8/layout/cycle1"/>
    <dgm:cxn modelId="{DCD78E58-8674-D242-9875-36B832C5A2FF}" type="presParOf" srcId="{445E6A8C-2BCE-A542-A67A-2E5CF50F65A0}" destId="{5B1E370A-D0D9-8040-B151-AD792088E774}" srcOrd="3" destOrd="0" presId="urn:microsoft.com/office/officeart/2005/8/layout/cycle1"/>
    <dgm:cxn modelId="{442CC3CF-EA16-4245-B2C2-9FCA34FA6C10}" type="presParOf" srcId="{445E6A8C-2BCE-A542-A67A-2E5CF50F65A0}" destId="{BEDF9C23-7807-4540-9A7B-3D422C4EE623}" srcOrd="4" destOrd="0" presId="urn:microsoft.com/office/officeart/2005/8/layout/cycle1"/>
    <dgm:cxn modelId="{AAB90D13-CC07-A943-83CD-50EB98C05EE2}" type="presParOf" srcId="{445E6A8C-2BCE-A542-A67A-2E5CF50F65A0}" destId="{346B135F-5EA2-B64F-8827-CA990ED0CDFE}" srcOrd="5" destOrd="0" presId="urn:microsoft.com/office/officeart/2005/8/layout/cycle1"/>
    <dgm:cxn modelId="{F5117465-C741-214B-B084-9EB741ABFEF0}" type="presParOf" srcId="{445E6A8C-2BCE-A542-A67A-2E5CF50F65A0}" destId="{136E88B7-F08B-2249-9750-517415450D1D}" srcOrd="6" destOrd="0" presId="urn:microsoft.com/office/officeart/2005/8/layout/cycle1"/>
    <dgm:cxn modelId="{8CAE02B4-BA3A-DE45-B3DD-4695C264562D}" type="presParOf" srcId="{445E6A8C-2BCE-A542-A67A-2E5CF50F65A0}" destId="{7E834778-B688-0942-A9B5-2344BAABD44A}" srcOrd="7" destOrd="0" presId="urn:microsoft.com/office/officeart/2005/8/layout/cycle1"/>
    <dgm:cxn modelId="{6D2D0A98-FCD6-6D4E-95C7-429847B0599F}" type="presParOf" srcId="{445E6A8C-2BCE-A542-A67A-2E5CF50F65A0}" destId="{DAAAA8DD-930F-AF42-B67B-EADBD78FBC5A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92165" cy="3978645"/>
        <a:chOff x="0" y="0"/>
        <a:chExt cx="5992165" cy="3978645"/>
      </a:xfrm>
    </dsp:grpSpPr>
    <dsp:sp modelId="{6E2CD0F5-994A-9349-B2CC-76CF5BFAA178}">
      <dsp:nvSpPr>
        <dsp:cNvPr id="3" name="矩形 2"/>
        <dsp:cNvSpPr/>
      </dsp:nvSpPr>
      <dsp:spPr bwMode="white">
        <a:xfrm>
          <a:off x="3506468" y="292682"/>
          <a:ext cx="1501560" cy="15015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dirty="0">
              <a:solidFill>
                <a:schemeClr val="tx1"/>
              </a:solidFill>
            </a:rPr>
            <a:t>MAFB</a:t>
          </a:r>
          <a:endParaRPr lang="zh-CN" altLang="en-US" sz="2800" b="1" dirty="0">
            <a:solidFill>
              <a:schemeClr val="tx1"/>
            </a:solidFill>
          </a:endParaRPr>
        </a:p>
      </dsp:txBody>
      <dsp:txXfrm>
        <a:off x="3506468" y="292682"/>
        <a:ext cx="1501560" cy="1501560"/>
      </dsp:txXfrm>
    </dsp:sp>
    <dsp:sp modelId="{DB30ADE8-E1D5-B449-B8B9-C348A1F3C4ED}">
      <dsp:nvSpPr>
        <dsp:cNvPr id="4" name="环形箭头 3"/>
        <dsp:cNvSpPr/>
      </dsp:nvSpPr>
      <dsp:spPr bwMode="white">
        <a:xfrm>
          <a:off x="1379624" y="155138"/>
          <a:ext cx="3232917" cy="3232917"/>
        </a:xfrm>
        <a:prstGeom prst="circularArrow">
          <a:avLst>
            <a:gd name="adj1" fmla="val 5000"/>
            <a:gd name="adj2" fmla="val 360000"/>
            <a:gd name="adj3" fmla="val 3239568"/>
            <a:gd name="adj4" fmla="val 53460"/>
            <a:gd name="adj5" fmla="val 5500"/>
          </a:avLst>
        </a:prstGeom>
        <a:solidFill>
          <a:schemeClr val="accent5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379624" y="155138"/>
        <a:ext cx="3232917" cy="3232917"/>
      </dsp:txXfrm>
    </dsp:sp>
    <dsp:sp modelId="{BEDF9C23-7807-4540-9A7B-3D422C4EE623}">
      <dsp:nvSpPr>
        <dsp:cNvPr id="5" name="矩形 4"/>
        <dsp:cNvSpPr/>
      </dsp:nvSpPr>
      <dsp:spPr bwMode="white">
        <a:xfrm>
          <a:off x="2222815" y="2477085"/>
          <a:ext cx="1501560" cy="15015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dirty="0">
              <a:solidFill>
                <a:schemeClr val="tx1"/>
              </a:solidFill>
            </a:rPr>
            <a:t>Bidirectional</a:t>
          </a:r>
          <a:r>
            <a:rPr lang="zh-CN" altLang="en-US" sz="2000" b="1" dirty="0">
              <a:solidFill>
                <a:schemeClr val="tx1"/>
              </a:solidFill>
            </a:rPr>
            <a:t> </a:t>
          </a:r>
          <a:r>
            <a:rPr lang="en-US" altLang="zh-CN" sz="2000" b="1" dirty="0">
              <a:solidFill>
                <a:schemeClr val="tx1"/>
              </a:solidFill>
            </a:rPr>
            <a:t>Replay</a:t>
          </a:r>
          <a:endParaRPr lang="zh-CN" altLang="en-US" sz="2000" b="1" dirty="0">
            <a:solidFill>
              <a:schemeClr val="tx1"/>
            </a:solidFill>
          </a:endParaRPr>
        </a:p>
      </dsp:txBody>
      <dsp:txXfrm>
        <a:off x="2222815" y="2477085"/>
        <a:ext cx="1501560" cy="1501560"/>
      </dsp:txXfrm>
    </dsp:sp>
    <dsp:sp modelId="{346B135F-5EA2-B64F-8827-CA990ED0CDFE}">
      <dsp:nvSpPr>
        <dsp:cNvPr id="6" name="环形箭头 5"/>
        <dsp:cNvSpPr/>
      </dsp:nvSpPr>
      <dsp:spPr bwMode="white">
        <a:xfrm>
          <a:off x="1379624" y="155138"/>
          <a:ext cx="3232917" cy="3232917"/>
        </a:xfrm>
        <a:prstGeom prst="circularArrow">
          <a:avLst>
            <a:gd name="adj1" fmla="val 5000"/>
            <a:gd name="adj2" fmla="val 360000"/>
            <a:gd name="adj3" fmla="val 10386539"/>
            <a:gd name="adj4" fmla="val 7324350"/>
            <a:gd name="adj5" fmla="val 5500"/>
          </a:avLst>
        </a:prstGeom>
        <a:solidFill>
          <a:schemeClr val="accent5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379624" y="155138"/>
        <a:ext cx="3232917" cy="3232917"/>
      </dsp:txXfrm>
    </dsp:sp>
    <dsp:sp modelId="{7E834778-B688-0942-A9B5-2344BAABD44A}">
      <dsp:nvSpPr>
        <dsp:cNvPr id="7" name="矩形 6"/>
        <dsp:cNvSpPr/>
      </dsp:nvSpPr>
      <dsp:spPr bwMode="white">
        <a:xfrm>
          <a:off x="984137" y="292682"/>
          <a:ext cx="1501560" cy="150156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dirty="0">
              <a:solidFill>
                <a:schemeClr val="tx1"/>
              </a:solidFill>
            </a:rPr>
            <a:t>FBTI</a:t>
          </a:r>
          <a:endParaRPr lang="zh-CN" altLang="en-US" sz="2800" dirty="0">
            <a:solidFill>
              <a:schemeClr val="tx1"/>
            </a:solidFill>
          </a:endParaRPr>
        </a:p>
      </dsp:txBody>
      <dsp:txXfrm>
        <a:off x="984137" y="292682"/>
        <a:ext cx="1501560" cy="1501560"/>
      </dsp:txXfrm>
    </dsp:sp>
    <dsp:sp modelId="{DAAAA8DD-930F-AF42-B67B-EADBD78FBC5A}">
      <dsp:nvSpPr>
        <dsp:cNvPr id="8" name="环形箭头 7"/>
        <dsp:cNvSpPr/>
      </dsp:nvSpPr>
      <dsp:spPr bwMode="white">
        <a:xfrm>
          <a:off x="1379624" y="155138"/>
          <a:ext cx="3232917" cy="3232917"/>
        </a:xfrm>
        <a:prstGeom prst="circularArrow">
          <a:avLst>
            <a:gd name="adj1" fmla="val 5000"/>
            <a:gd name="adj2" fmla="val 360000"/>
            <a:gd name="adj3" fmla="val 17070982"/>
            <a:gd name="adj4" fmla="val 14969017"/>
            <a:gd name="adj5" fmla="val 5500"/>
          </a:avLst>
        </a:prstGeom>
        <a:solidFill>
          <a:schemeClr val="accent5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379624" y="155138"/>
        <a:ext cx="3232917" cy="3232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95" name="Title 1"/>
          <p:cNvSpPr txBox="1">
            <a:spLocks noGrp="1"/>
          </p:cNvSpPr>
          <p:nvPr>
            <p:ph type="title"/>
          </p:nvPr>
        </p:nvSpPr>
        <p:spPr>
          <a:xfrm>
            <a:off x="152399" y="113376"/>
            <a:ext cx="11572878" cy="1549017"/>
          </a:xfrm>
          <a:prstGeom prst="rect">
            <a:avLst/>
          </a:prstGeom>
        </p:spPr>
        <p:txBody>
          <a:bodyPr/>
          <a:lstStyle/>
          <a:p>
            <a:pPr>
              <a:defRPr sz="4200">
                <a:solidFill>
                  <a:schemeClr val="accent1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中銀香港創新先驅大賽20</a:t>
            </a:r>
            <a:r>
              <a:rPr lang="en-US" altLang="zh-CN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26</a:t>
            </a: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計劃書</a:t>
            </a:r>
            <a:b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BOCHK Challenge 202</a:t>
            </a:r>
            <a:r>
              <a:rPr lang="en-US" altLang="zh-TW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</a:t>
            </a:r>
            <a:r>
              <a:rPr lang="en-US" altLang="zh-CN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Proposal</a:t>
            </a:r>
            <a:endParaRPr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6" name="Subtitle 2"/>
          <p:cNvSpPr txBox="1"/>
          <p:nvPr/>
        </p:nvSpPr>
        <p:spPr>
          <a:xfrm>
            <a:off x="152399" y="1606577"/>
            <a:ext cx="2251711" cy="100488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 err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隊伍名稱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Team Name</a:t>
            </a: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</a:t>
            </a:r>
            <a:endParaRPr lang="en-US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99" name="Rectangle: Rounded Corners 9"/>
          <p:cNvGrpSpPr/>
          <p:nvPr/>
        </p:nvGrpSpPr>
        <p:grpSpPr>
          <a:xfrm>
            <a:off x="2336950" y="1606577"/>
            <a:ext cx="3483747" cy="908332"/>
            <a:chOff x="0" y="0"/>
            <a:chExt cx="4183735" cy="908330"/>
          </a:xfrm>
        </p:grpSpPr>
        <p:sp>
          <p:nvSpPr>
            <p:cNvPr id="97" name="Rounded Rectangle"/>
            <p:cNvSpPr/>
            <p:nvPr/>
          </p:nvSpPr>
          <p:spPr>
            <a:xfrm>
              <a:off x="0" y="0"/>
              <a:ext cx="4183736" cy="9083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8" name="請輸入您的隊伍名稱…"/>
            <p:cNvSpPr txBox="1"/>
            <p:nvPr/>
          </p:nvSpPr>
          <p:spPr>
            <a:xfrm>
              <a:off x="90897" y="148962"/>
              <a:ext cx="4001941" cy="61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lang="en-US" altLang="zh-CN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FINANO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00" name="Subtitle 2"/>
          <p:cNvSpPr txBox="1"/>
          <p:nvPr/>
        </p:nvSpPr>
        <p:spPr>
          <a:xfrm>
            <a:off x="152399" y="2734719"/>
            <a:ext cx="2251711" cy="10537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 err="1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隊員名稱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Team Members</a:t>
            </a:r>
            <a:r>
              <a:rPr lang="en-US" altLang="zh-TW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'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Name</a:t>
            </a: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103" name="Rectangle: Rounded Corners 12"/>
          <p:cNvGrpSpPr/>
          <p:nvPr/>
        </p:nvGrpSpPr>
        <p:grpSpPr>
          <a:xfrm>
            <a:off x="2336950" y="1899774"/>
            <a:ext cx="3483747" cy="4766497"/>
            <a:chOff x="0" y="-582828"/>
            <a:chExt cx="4196084" cy="3253004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4196084" cy="2670176"/>
            </a:xfrm>
            <a:prstGeom prst="roundRect">
              <a:avLst>
                <a:gd name="adj" fmla="val 7130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2" name="組長:…"/>
            <p:cNvSpPr txBox="1"/>
            <p:nvPr/>
          </p:nvSpPr>
          <p:spPr>
            <a:xfrm>
              <a:off x="202961" y="-582828"/>
              <a:ext cx="3993123" cy="27501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 err="1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組長</a:t>
              </a: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:</a:t>
              </a:r>
              <a:r>
                <a:rPr lang="zh-CN" alt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 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Team Leader: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Tianyi Pu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隊員1: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Team Member 1: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Rui LUO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隊員2: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Team Member 2: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Jia HUA</a:t>
              </a:r>
              <a:endParaRPr lang="en-US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 lang="en-US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隊員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3</a:t>
              </a: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: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Team Member 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3</a:t>
              </a: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: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Ji Xiang Zhong</a:t>
              </a:r>
              <a:endParaRPr lang="en-US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+mn-ea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 lang="en-US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+mn-ea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隊員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4</a:t>
              </a: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: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Team Member 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4</a:t>
              </a:r>
              <a:r>
                <a:rPr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:</a:t>
              </a:r>
              <a:r>
                <a:rPr 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  <a:sym typeface="+mn-ea"/>
                </a:rPr>
                <a:t>Zexingyu GUI</a:t>
              </a:r>
              <a:endParaRPr lang="en-US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 lang="en-US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 lang="en-US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Subtitle 2"/>
          <p:cNvSpPr txBox="1"/>
          <p:nvPr/>
        </p:nvSpPr>
        <p:spPr>
          <a:xfrm>
            <a:off x="6138390" y="2734719"/>
            <a:ext cx="1960265" cy="186422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方案簡介</a:t>
            </a:r>
            <a:endParaRPr lang="en-US" altLang="zh-CN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100</a:t>
            </a: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字）</a:t>
            </a:r>
            <a:r>
              <a:rPr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Proposal Summary</a:t>
            </a:r>
            <a:endParaRPr lang="en-US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altLang="zh-TW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(100 words)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Rounded Rectangle"/>
          <p:cNvSpPr/>
          <p:nvPr/>
        </p:nvSpPr>
        <p:spPr>
          <a:xfrm>
            <a:off x="8224993" y="2734719"/>
            <a:ext cx="3483747" cy="3931551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 w="12700" cap="flat">
            <a:solidFill>
              <a:srgbClr val="D0CEC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solidFill>
                <a:schemeClr val="tx1">
                  <a:lumMod val="50000"/>
                  <a:lumOff val="5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6168927" y="1606577"/>
            <a:ext cx="2251711" cy="100488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zh-CN" alt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參賽組別</a:t>
            </a:r>
            <a:endParaRPr lang="en-US" altLang="zh-CN"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>
                <a:solidFill>
                  <a:schemeClr val="accent1"/>
                </a:solidFill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rPr lang="en-US" sz="2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Contestant Category</a:t>
            </a:r>
            <a:endParaRPr sz="2000" b="1" dirty="0">
              <a:solidFill>
                <a:schemeClr val="bg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17" name="Rectangle: Rounded Corners 9"/>
          <p:cNvGrpSpPr/>
          <p:nvPr/>
        </p:nvGrpSpPr>
        <p:grpSpPr>
          <a:xfrm>
            <a:off x="8224993" y="1606577"/>
            <a:ext cx="3553419" cy="908332"/>
            <a:chOff x="0" y="0"/>
            <a:chExt cx="4183735" cy="908330"/>
          </a:xfrm>
        </p:grpSpPr>
        <p:sp>
          <p:nvSpPr>
            <p:cNvPr id="18" name="Rounded Rectangle"/>
            <p:cNvSpPr/>
            <p:nvPr/>
          </p:nvSpPr>
          <p:spPr>
            <a:xfrm>
              <a:off x="0" y="0"/>
              <a:ext cx="4183736" cy="90833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D0CEC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9" name="請輸入您的隊伍名稱…"/>
            <p:cNvSpPr txBox="1"/>
            <p:nvPr/>
          </p:nvSpPr>
          <p:spPr>
            <a:xfrm>
              <a:off x="90897" y="148962"/>
              <a:ext cx="4001941" cy="61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lang="zh-CN" altLang="en-US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學生組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>
                <a:defRPr sz="1600">
                  <a:latin typeface="游ゴシック体 ミディアム"/>
                  <a:ea typeface="游ゴシック体 ミディアム"/>
                  <a:cs typeface="游ゴシック体 ミディアム"/>
                  <a:sym typeface="游ゴシック体 ミディアム"/>
                </a:defRPr>
              </a:pPr>
              <a:r>
                <a:rPr lang="en-US" altLang="zh-CN" b="1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Student Stream</a:t>
              </a:r>
              <a:endParaRPr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【改进建议】补全队员姓名与 HKUST 学号；在方案简介框写入约100字中英摘要，明确科技主题（生成式AI、大数据）与场景（风控、普惠金融）。演讲时先用1句话点出：FINANO 用 GenAI 多智能体解决银行「适当性+合規留痕」痛点。</a:t>
            </a:r>
            <a:br/>
            <a:r>
              <a:t>[Suggestion] Fill team roster &amp; ~100-word bilingual summary; tag GenAI + Big Data and Risk Mgmt / Inclusive Finance. Open pitch with suitability + compliance angle.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683657" y="0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835620" y="4122731"/>
            <a:ext cx="10170302" cy="2604084"/>
            <a:chOff x="1835620" y="4122731"/>
            <a:chExt cx="10170302" cy="2604084"/>
          </a:xfrm>
        </p:grpSpPr>
        <p:sp>
          <p:nvSpPr>
            <p:cNvPr id="20" name="Rectangle 19"/>
            <p:cNvSpPr/>
            <p:nvPr/>
          </p:nvSpPr>
          <p:spPr>
            <a:xfrm>
              <a:off x="1835620" y="4122731"/>
              <a:ext cx="10170302" cy="2604084"/>
            </a:xfrm>
            <a:prstGeom prst="rect">
              <a:avLst/>
            </a:prstGeom>
            <a:solidFill>
              <a:srgbClr val="E9BF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835620" y="4334639"/>
              <a:ext cx="620714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其他應用</a:t>
              </a:r>
              <a:r>
                <a:rPr lang="en-US" altLang="zh-TW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科技</a:t>
              </a:r>
              <a:r>
                <a:rPr lang="en-US" altLang="zh-TW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 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(</a:t>
              </a:r>
              <a:r>
                <a:rPr lang="zh-TW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請在此列出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，例如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VR/AR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)</a:t>
              </a:r>
              <a:endPara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lang="en-US" altLang="zh-TW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Other application technologies </a:t>
              </a:r>
              <a:r>
                <a:rPr lang="en-US" altLang="zh-TW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(Please list below, E.g. VR/AR</a:t>
              </a:r>
              <a:r>
                <a: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)</a:t>
              </a:r>
              <a:endParaRPr lang="zh-TW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835620" y="509951"/>
            <a:ext cx="8206554" cy="1534459"/>
            <a:chOff x="1835620" y="332399"/>
            <a:chExt cx="8206554" cy="1534459"/>
          </a:xfrm>
        </p:grpSpPr>
        <p:sp>
          <p:nvSpPr>
            <p:cNvPr id="23" name="Rectangle 25"/>
            <p:cNvSpPr/>
            <p:nvPr/>
          </p:nvSpPr>
          <p:spPr>
            <a:xfrm>
              <a:off x="1835620" y="332399"/>
              <a:ext cx="698135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zh-TW" altLang="zh-TW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比賽主題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：</a:t>
              </a:r>
              <a:r>
                <a:rPr lang="zh-CN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科技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（至少選其一）</a:t>
              </a:r>
              <a:endParaRPr lang="en-US" altLang="zh-TW" sz="1200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  <a:p>
              <a:pPr lvl="0" algn="just"/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Theme</a:t>
              </a:r>
              <a:r>
                <a:rPr lang="zh-TW" altLang="en-US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：</a:t>
              </a:r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Technology (Choose at least one)</a:t>
              </a:r>
              <a:endParaRPr lang="zh-TW" altLang="zh-TW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1835620" y="962188"/>
              <a:ext cx="8206554" cy="904670"/>
              <a:chOff x="1880435" y="962188"/>
              <a:chExt cx="8206554" cy="904670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1880435" y="974306"/>
                <a:ext cx="2457034" cy="892552"/>
                <a:chOff x="1880435" y="984909"/>
                <a:chExt cx="2457034" cy="892552"/>
              </a:xfrm>
            </p:grpSpPr>
            <p:sp>
              <p:nvSpPr>
                <p:cNvPr id="32" name="Rectangle 45"/>
                <p:cNvSpPr/>
                <p:nvPr/>
              </p:nvSpPr>
              <p:spPr>
                <a:xfrm>
                  <a:off x="1880435" y="1068396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3" name="TextBox 44"/>
                <p:cNvSpPr txBox="1"/>
                <p:nvPr/>
              </p:nvSpPr>
              <p:spPr>
                <a:xfrm>
                  <a:off x="2172353" y="984909"/>
                  <a:ext cx="2165116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生成式</a:t>
                  </a:r>
                  <a:r>
                    <a:rPr lang="en-US" altLang="zh-TW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AI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Generative 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A</a:t>
                  </a:r>
                  <a:r>
                    <a:rPr lang="en-US" altLang="zh-CN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rtificial Intelligence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26" name="Group 25"/>
              <p:cNvGrpSpPr/>
              <p:nvPr/>
            </p:nvGrpSpPr>
            <p:grpSpPr>
              <a:xfrm>
                <a:off x="4511588" y="962188"/>
                <a:ext cx="2873389" cy="646331"/>
                <a:chOff x="4609977" y="986211"/>
                <a:chExt cx="2873389" cy="646331"/>
              </a:xfrm>
            </p:grpSpPr>
            <p:sp>
              <p:nvSpPr>
                <p:cNvPr id="30" name="Rectangle 45"/>
                <p:cNvSpPr/>
                <p:nvPr/>
              </p:nvSpPr>
              <p:spPr>
                <a:xfrm>
                  <a:off x="4609977" y="104907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1" name="TextBox 44"/>
                <p:cNvSpPr txBox="1"/>
                <p:nvPr/>
              </p:nvSpPr>
              <p:spPr>
                <a:xfrm>
                  <a:off x="4901894" y="986211"/>
                  <a:ext cx="258147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區塊鏈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Blockchain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7017330" y="974306"/>
                <a:ext cx="3069659" cy="646331"/>
                <a:chOff x="4143941" y="998329"/>
                <a:chExt cx="3069659" cy="646331"/>
              </a:xfrm>
            </p:grpSpPr>
            <p:sp>
              <p:nvSpPr>
                <p:cNvPr id="28" name="Rectangle 45"/>
                <p:cNvSpPr/>
                <p:nvPr/>
              </p:nvSpPr>
              <p:spPr>
                <a:xfrm>
                  <a:off x="4143941" y="1081816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9" name="TextBox 44"/>
                <p:cNvSpPr txBox="1"/>
                <p:nvPr/>
              </p:nvSpPr>
              <p:spPr>
                <a:xfrm>
                  <a:off x="4435858" y="998329"/>
                  <a:ext cx="27777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大數據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Big Data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</p:grpSp>
      </p:grpSp>
      <p:grpSp>
        <p:nvGrpSpPr>
          <p:cNvPr id="34" name="Group 33"/>
          <p:cNvGrpSpPr/>
          <p:nvPr/>
        </p:nvGrpSpPr>
        <p:grpSpPr>
          <a:xfrm>
            <a:off x="1835620" y="2175810"/>
            <a:ext cx="10210477" cy="2027001"/>
            <a:chOff x="1835620" y="2228121"/>
            <a:chExt cx="10210477" cy="2027001"/>
          </a:xfrm>
        </p:grpSpPr>
        <p:sp>
          <p:nvSpPr>
            <p:cNvPr id="35" name="Rectangle 34"/>
            <p:cNvSpPr/>
            <p:nvPr/>
          </p:nvSpPr>
          <p:spPr>
            <a:xfrm>
              <a:off x="1835620" y="2228121"/>
              <a:ext cx="698135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zh-TW" altLang="zh-TW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比賽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場景</a:t>
              </a:r>
              <a:r>
                <a:rPr lang="zh-CN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：金融</a:t>
              </a:r>
              <a:r>
                <a:rPr lang="zh-TW" altLang="en-US" b="1" kern="100" dirty="0">
                  <a:solidFill>
                    <a:srgbClr val="222222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Courier New" panose="02070309020205020404" pitchFamily="49" charset="0"/>
                </a:rPr>
                <a:t>（至少選其一）</a:t>
              </a:r>
              <a:endParaRPr lang="en-US" altLang="zh-TW" sz="1200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  <a:p>
              <a:pPr lvl="0" algn="just"/>
              <a:r>
                <a:rPr lang="en-US" altLang="zh-TW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Scenario: Finance (Choose at least one)</a:t>
              </a:r>
              <a:endParaRPr lang="zh-TW" altLang="zh-TW" kern="100" dirty="0">
                <a:latin typeface="Yu Gothic" panose="020B0400000000000000" pitchFamily="34" charset="-128"/>
                <a:ea typeface="Yu Gothic" panose="020B0400000000000000" pitchFamily="34" charset="-128"/>
                <a:cs typeface="Cordia New"/>
              </a:endParaRPr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1835620" y="3054793"/>
              <a:ext cx="10210477" cy="1200329"/>
              <a:chOff x="1880435" y="3054793"/>
              <a:chExt cx="10210477" cy="1200329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1880435" y="3062312"/>
                <a:ext cx="2066728" cy="892552"/>
                <a:chOff x="1880435" y="1197974"/>
                <a:chExt cx="2066728" cy="892552"/>
              </a:xfrm>
            </p:grpSpPr>
            <p:sp>
              <p:nvSpPr>
                <p:cNvPr id="50" name="Rectangle 45"/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51" name="TextBox 44"/>
                <p:cNvSpPr txBox="1"/>
                <p:nvPr/>
              </p:nvSpPr>
              <p:spPr>
                <a:xfrm>
                  <a:off x="2172353" y="1197974"/>
                  <a:ext cx="177481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普惠金融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Inclusive Finance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3987338" y="3062312"/>
                <a:ext cx="1774810" cy="646331"/>
                <a:chOff x="1880435" y="1197974"/>
                <a:chExt cx="1774810" cy="646331"/>
              </a:xfrm>
            </p:grpSpPr>
            <p:sp>
              <p:nvSpPr>
                <p:cNvPr id="48" name="Rectangle 45"/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9" name="TextBox 44"/>
                <p:cNvSpPr txBox="1"/>
                <p:nvPr/>
              </p:nvSpPr>
              <p:spPr>
                <a:xfrm>
                  <a:off x="2172353" y="1197974"/>
                  <a:ext cx="148289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支付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Payment</a:t>
                  </a:r>
                  <a:endParaRPr lang="en-US" altLang="zh-TW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5802323" y="3062312"/>
                <a:ext cx="2066728" cy="892552"/>
                <a:chOff x="1880435" y="1197974"/>
                <a:chExt cx="2066728" cy="892552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1880435" y="1281461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7" name="TextBox 44"/>
                <p:cNvSpPr txBox="1"/>
                <p:nvPr/>
              </p:nvSpPr>
              <p:spPr>
                <a:xfrm>
                  <a:off x="2172353" y="1197974"/>
                  <a:ext cx="177481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風</a:t>
                  </a:r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控</a:t>
                  </a:r>
                  <a:endParaRPr lang="en-US" altLang="zh-CN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Risk Management</a:t>
                  </a:r>
                  <a:endParaRPr lang="zh-TW" altLang="en-US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>
                <a:off x="7577133" y="3056081"/>
                <a:ext cx="2066728" cy="954107"/>
                <a:chOff x="1548342" y="1191743"/>
                <a:chExt cx="2066728" cy="954107"/>
              </a:xfrm>
            </p:grpSpPr>
            <p:sp>
              <p:nvSpPr>
                <p:cNvPr id="44" name="Rectangle 45"/>
                <p:cNvSpPr/>
                <p:nvPr/>
              </p:nvSpPr>
              <p:spPr>
                <a:xfrm>
                  <a:off x="1548342" y="1275230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1840260" y="1191743"/>
                  <a:ext cx="177481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環境、</a:t>
                  </a:r>
                  <a:endParaRPr lang="en-US" altLang="zh-TW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zh-TW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社會和管治</a:t>
                  </a:r>
                  <a:endParaRPr lang="en-US" altLang="zh-TW" sz="20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6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ESG</a:t>
                  </a:r>
                  <a:endParaRPr lang="zh-TW" altLang="en-US" sz="16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9503906" y="3054793"/>
                <a:ext cx="2587006" cy="1200329"/>
                <a:chOff x="1368212" y="1190455"/>
                <a:chExt cx="2587006" cy="1200329"/>
              </a:xfrm>
            </p:grpSpPr>
            <p:sp>
              <p:nvSpPr>
                <p:cNvPr id="42" name="Rectangle 45"/>
                <p:cNvSpPr/>
                <p:nvPr/>
              </p:nvSpPr>
              <p:spPr>
                <a:xfrm>
                  <a:off x="1368212" y="1273942"/>
                  <a:ext cx="266062" cy="2276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3" name="TextBox 44"/>
                <p:cNvSpPr txBox="1"/>
                <p:nvPr/>
              </p:nvSpPr>
              <p:spPr>
                <a:xfrm>
                  <a:off x="1660130" y="1190455"/>
                  <a:ext cx="2295088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跨境 </a:t>
                  </a:r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(</a:t>
                  </a:r>
                  <a:r>
                    <a:rPr lang="zh-TW" altLang="en-US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內地、東南亞及其他海外地區</a:t>
                  </a:r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)</a:t>
                  </a:r>
                  <a:endParaRPr lang="en-US" altLang="zh-CN" sz="13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  <a:p>
                  <a:r>
                    <a:rPr lang="en-US" altLang="zh-TW" sz="13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Cross Border (Mainland, Southeast Asia and Other Overseas Regions</a:t>
                  </a:r>
                  <a:endParaRPr lang="zh-TW" altLang="en-US" sz="1300" dirty="0">
                    <a:latin typeface="Yu Gothic" panose="020B0400000000000000" pitchFamily="34" charset="-128"/>
                    <a:ea typeface="Yu Gothic" panose="020B0400000000000000" pitchFamily="34" charset="-128"/>
                  </a:endParaRPr>
                </a:p>
              </p:txBody>
            </p:sp>
          </p:grpSp>
        </p:grpSp>
      </p:grpSp>
      <p:sp>
        <p:nvSpPr>
          <p:cNvPr id="52" name="TextBox 44"/>
          <p:cNvSpPr txBox="1"/>
          <p:nvPr/>
        </p:nvSpPr>
        <p:spPr>
          <a:xfrm>
            <a:off x="9553987" y="1139740"/>
            <a:ext cx="2581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量子計算</a:t>
            </a:r>
            <a:endParaRPr lang="en-US" altLang="zh-C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altLang="zh-TW" sz="1600" dirty="0">
                <a:latin typeface="Yu Gothic" panose="020B0400000000000000" pitchFamily="34" charset="-128"/>
                <a:ea typeface="Yu Gothic" panose="020B0400000000000000" pitchFamily="34" charset="-128"/>
              </a:rPr>
              <a:t>Quantum Computing</a:t>
            </a:r>
            <a:endParaRPr lang="en-US" altLang="zh-TW" sz="16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3" name="Rectangle 45"/>
          <p:cNvSpPr/>
          <p:nvPr/>
        </p:nvSpPr>
        <p:spPr>
          <a:xfrm>
            <a:off x="9287925" y="1202600"/>
            <a:ext cx="266062" cy="22768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378" y="1076918"/>
            <a:ext cx="394258" cy="39425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190" y="2936359"/>
            <a:ext cx="394258" cy="3942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958" y="1076918"/>
            <a:ext cx="394258" cy="39425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810" y="2952869"/>
            <a:ext cx="394258" cy="39425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1</a:t>
            </a:r>
            <a:endParaRPr lang="en-US" altLang="zh-CN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Proposal Overview 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【改进建议】章节页：口播衔接句示例——「Part 1 先回答 FINANO 是什么、为何适合中银香港」。保持原文标题不动，用一句话把听众带入痛点。</a:t>
            </a:r>
            <a:br/>
            <a:r>
              <a:t>[Suggestion] Section bridge: what FINANO is and why it fits BOCHK — do not rewrite slide title.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1.1 What is FINANO?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50755" y="1321136"/>
            <a:ext cx="9174145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FINANO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is an AI multi-agent engine that upgrades how a bank profiles each client's </a:t>
            </a:r>
            <a:r>
              <a:rPr lang="en-US" altLang="zh-CN" sz="2400" b="1" i="1" dirty="0">
                <a:solidFill>
                  <a:schemeClr val="tx1"/>
                </a:solidFill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behavior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recommends suitable funds.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50755" y="3169805"/>
            <a:ext cx="9174145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The gap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it fills: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Banks today match clients to products by their 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money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FINANO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adds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missing layer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matching by </a:t>
            </a:r>
            <a:r>
              <a:rPr lang="en-US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37827" y="6431428"/>
            <a:ext cx="5345723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i="1" dirty="0">
                <a:solidFill>
                  <a:schemeClr val="tx2">
                    <a:lumMod val="50000"/>
                  </a:schemeClr>
                </a:solidFill>
              </a:rPr>
              <a:t>* FINANO </a:t>
            </a:r>
            <a:r>
              <a:rPr lang="en-US" altLang="zh-CN" sz="1600" b="1" i="1" dirty="0">
                <a:solidFill>
                  <a:schemeClr val="tx2">
                    <a:lumMod val="50000"/>
                  </a:schemeClr>
                </a:solidFill>
              </a:rPr>
              <a:t>augments</a:t>
            </a:r>
            <a:r>
              <a:rPr lang="en-US" altLang="zh-CN" sz="1600" i="1" dirty="0">
                <a:solidFill>
                  <a:schemeClr val="tx2">
                    <a:lumMod val="50000"/>
                  </a:schemeClr>
                </a:solidFill>
              </a:rPr>
              <a:t>, not replaces, a bank's existing KYC flow. </a:t>
            </a:r>
            <a:endParaRPr kumimoji="0" lang="zh-CN" altLang="en-US" sz="1600" b="0" i="1" u="none" strike="noStrike" cap="none" spc="0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【改进建议】在原文下方口播/增补时加入关键词 Generative AI（生成式AI），并呼应大赛主题 Innovation Leads the Future。强调「augment KYC」而非替代持牌投顾，避免合规误解。</a:t>
            </a:r>
            <a:br/>
            <a:r>
              <a:t>[Suggestion] When presenting, say 'Generative AI multi-agent engine'; stress decision-support, not licensed advice.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1.2 Three Core Engines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71430" y="700526"/>
            <a:ext cx="993279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Three engines, one closed loop that knows each client better over time.</a:t>
            </a:r>
            <a:endParaRPr kumimoji="0" lang="zh-CN" altLang="en-US" sz="2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71429" y="6183392"/>
            <a:ext cx="1017897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Each loop sharpens the profile; the longer a client uses it, the harder to leave. 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3667648" y="1514819"/>
          <a:ext cx="5992165" cy="3978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203223" y="1831757"/>
            <a:ext cx="2319217" cy="1634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i="1" dirty="0"/>
              <a:t>8-question behavioral profile → 16 personality types, injected into every analysis.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55426" y="2138224"/>
            <a:ext cx="2597876" cy="10215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i="1" dirty="0"/>
              <a:t>5 parallel AI agents score a fund; a compliance agent vets the output.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69025" y="5325521"/>
            <a:ext cx="4086401" cy="71508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i="1" dirty="0"/>
              <a:t>links every trade to its rationale, turning client history into a switching-cost moat.</a:t>
            </a:r>
            <a:endParaRPr kumimoji="0" lang="zh-CN" alt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70324" y="2788564"/>
            <a:ext cx="22056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Know the client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58318" y="2788564"/>
            <a:ext cx="135917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Analyze fit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333997" y="4956191"/>
            <a:ext cx="28838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Surface Behavior patterns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56321" y="3448330"/>
            <a:ext cx="790471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Refine the profile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【改进建议】口播时给三引擎命名：FBTI（画像）、MAFB（五路GenAI分析+合规）、Trade Replay（行为记忆）。建议在本节后插入1页系统截图/架构图（LangGraph 流程），满足大赛 Prototype 评分项。</a:t>
            </a:r>
            <a:br/>
            <a:r>
              <a:t>[Suggestion] Label engines FBTI / MAFB / Trade Replay; add a demo screenshot slide after this section.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1.3 Value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to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BOCHK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48897" y="915910"/>
            <a:ext cx="10220570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Today, suitability is assessed by money. With FINANO, it‘s also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assessed by behavior, and every recommendation is auto-documented.</a:t>
            </a:r>
            <a:endParaRPr kumimoji="0" lang="zh-CN" alt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23396" y="2305433"/>
            <a:ext cx="105507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TODAY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4430" y="2305433"/>
            <a:ext cx="203981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WITH FINANO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220683" y="2847481"/>
            <a:ext cx="4260503" cy="3285811"/>
          </a:xfrm>
          <a:prstGeom prst="roundRect">
            <a:avLst>
              <a:gd name="adj" fmla="val 584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802733" y="2847481"/>
            <a:ext cx="4823209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71407" y="3290058"/>
            <a:ext cx="4109779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Static, money-based KYC, rarely updated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Mechanical risk-tier matching → mis-selling &amp; complaints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SFC pressure on suitability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19586" y="3290057"/>
            <a:ext cx="4823209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 behavioral layer running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 parallel with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KYC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Suitability-first matching, not return-first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Auto-logged rationale → satisfies "record each recommendation's reason"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【改进建议】标题可口播为「赋能中银香港成为创新先驱」；WITH FINANO 一栏口播强调 GenAI-powered behavioral layer。对比表很好，演讲时先讲 TODAY 痛点再翻转。</a:t>
            </a:r>
            <a:br/>
            <a:r>
              <a:t>[Suggestion] Verbal title: Empowering BOCHK as Innovation Pioneer; highlight GenAI behavioral layer in WITH column.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2</a:t>
            </a:r>
            <a:endParaRPr lang="en-US" altLang="zh-CN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Target Market &amp; Customer Groups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【改进建议】章节过渡：「Part 2 说明我们卖给谁——银行 B2B，中银香港是第一合作伙伴」。</a:t>
            </a:r>
            <a:br/>
            <a:r>
              <a:t>[Suggestion] Bridge to B2B buyer story; BOCHK as first partner.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2.1 Who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Pays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Why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Banks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48897" y="855620"/>
            <a:ext cx="8058778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Our primary customer is the bank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BOCHK is the ideal first partner.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66292" y="1759211"/>
            <a:ext cx="142686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The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Need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23930" y="1760742"/>
            <a:ext cx="203981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Why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Banks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59270" y="1759211"/>
            <a:ext cx="24251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Why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BOCHK first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014694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14694" y="2585982"/>
            <a:ext cx="3130062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HK banks must document that every fund recommendation is suitable, yet still rely on </a:t>
            </a:r>
            <a:r>
              <a:rPr lang="en-US" altLang="zh-CN" sz="2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risk questionnaires 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→ a behavioral blind spot.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475793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46461" y="2593677"/>
            <a:ext cx="3130062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Banks carry the compliance burden, own the distribution. 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 value of behavioral profiling is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inside the bank.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898156" y="2381932"/>
            <a:ext cx="3130062" cy="3285811"/>
          </a:xfrm>
          <a:prstGeom prst="roundRect">
            <a:avLst>
              <a:gd name="adj" fmla="val 5847"/>
            </a:avLst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898156" y="2992016"/>
            <a:ext cx="3130062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GBA retail bank, active in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fintech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This competition is itself step one of a pilot.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09072" y="6429934"/>
            <a:ext cx="527309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We sell to banks (B2B). Retail users are our validation layer.</a:t>
            </a:r>
            <a:endParaRPr lang="en-US" altLang="zh-CN" sz="1600" i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【改进建议】强化「本大赛 = PoC 第一步」与官网「中银香港合作/实习机会」的对应关系。Retail users 仅作验证层——评委问商业模式时用这个脚注回答。</a:t>
            </a:r>
            <a:br/>
            <a:r>
              <a:t>[Suggestion] Tie this competition to BOCHK PoC step 1 and official collaboration/internship pathway.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2.2 Market Size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Opportunity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48897" y="736264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 large, fast-growing value pool — reached through a handful of buyers.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48897" y="5439280"/>
            <a:ext cx="1025166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HKMA &amp; SFC are actively streamlining suitability assessment, and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is now banks' top client investment theme.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651760" y="1452880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651760" y="2245360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651760" y="3017158"/>
            <a:ext cx="1178560" cy="55399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05760" y="1499046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TAM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05760" y="2311263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dirty="0"/>
              <a:t>S</a:t>
            </a: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AM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05760" y="3063324"/>
            <a:ext cx="75184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dirty="0"/>
              <a:t>SO</a:t>
            </a: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M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213040" y="1452880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213039" y="2245360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213039" y="3052993"/>
            <a:ext cx="1923599" cy="553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536607" y="1540358"/>
            <a:ext cx="119363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HKD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35.1T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578021" y="2322304"/>
            <a:ext cx="1396059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~ 20 banks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36607" y="3129937"/>
            <a:ext cx="119363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1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2 - 3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461929" y="1452880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75120" y="1540358"/>
            <a:ext cx="410754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HK asset &amp; wealth AUM, 2024 (+13%)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461929" y="2245360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75120" y="2332838"/>
            <a:ext cx="460248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Retail banks distributing funds (of 149 licensed)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461929" y="3052993"/>
            <a:ext cx="4815671" cy="5539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75120" y="3140471"/>
            <a:ext cx="410754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dirty="0"/>
              <a:t>BOCHK pilot Y1 → GBA banks by Y3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02688" y="1509580"/>
            <a:ext cx="461663" cy="461663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02688" y="2311263"/>
            <a:ext cx="461663" cy="461663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02688" y="3094304"/>
            <a:ext cx="461663" cy="461663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2677160" y="3956614"/>
            <a:ext cx="7995920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Retail-bank investment-product sales (doubled in 2022–2024): 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HK$819B → HK$1.77T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7600" y="6349173"/>
            <a:ext cx="844296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Sources: AUM &amp; net inflows — SFC, Asset &amp; Wealth Management Activities Survey 2024 (Jul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Retail-bank fund sales — HKMA (Aug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Licensed-bank count — HKMA Register of Authorized Institutions (Aug 2025)</a:t>
            </a:r>
            <a:r>
              <a:rPr lang="zh-CN" altLang="en-US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｜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~20 retail banks — team estimate</a:t>
            </a:r>
            <a:endParaRPr lang="en-US" altLang="zh-CN" sz="1200" i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【改进建议】数据很有说服力，演讲时只念 3 个数字：35.1T AUM、销售翻倍、20 家零售银行。保留脚注来源；若时间紧，SAM/SOM 用「1→3 家银行」一句话带过。</a:t>
            </a:r>
            <a:br/>
            <a:r>
              <a:t>[Suggestion] Present only 3 headline numbers; keep source footnote visible for credibility.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6" y="88020"/>
            <a:ext cx="9337263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2.3 Competitive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Landscape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&amp;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Differentiation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48896" y="672795"/>
            <a:ext cx="10038303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No incumbent combines behavioral profiling + multi-agent analysis + memory — inside the bank's compliance perimeter.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48896" y="6185205"/>
            <a:ext cx="10083086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Our moat is the behavioral data that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compounds with every client interaction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964396" y="1859279"/>
          <a:ext cx="9946863" cy="3944621"/>
        </p:xfrm>
        <a:graphic>
          <a:graphicData uri="http://schemas.openxmlformats.org/drawingml/2006/table">
            <a:tbl>
              <a:tblPr/>
              <a:tblGrid>
                <a:gridCol w="3088864"/>
                <a:gridCol w="3413760"/>
                <a:gridCol w="3444239"/>
              </a:tblGrid>
              <a:tr h="457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Alternatives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gap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FINANO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 KYC / risk questionnaire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Money &amp; risk-tier only;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 behavior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16-type behavioral layer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Robo-advisors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 allocation models,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 per-client behavior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Behavior-driven, explainable fit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Generic LLM copilots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structured profile,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hallucination risk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agent + structured output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21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wealthtech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analytics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depth but no personalization or auto-logging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Auto-logged, suitability-first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【改进建议】增补口播词：加入 Generative AI multi-agent + trade memory。可补一张竞品对比表（智能投顾 / 基金超市 / 通用ChatGPT套壳 / FINANO 四列）。</a:t>
            </a:r>
            <a:br/>
            <a:r>
              <a:t>[Suggestion] Add 'Generative AI' in narration; optional competitor comparison table as extra slide.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2130645" y="2037399"/>
            <a:ext cx="9614366" cy="195220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3</a:t>
            </a:r>
            <a:endParaRPr lang="en-US" altLang="zh-CN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Business Issues / Customers' Pain Points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【改进建议】章节页：「Part 3 用监管与成本数据证明痛点真实存在」。</a:t>
            </a:r>
            <a:br/>
            <a:r>
              <a:t>[Suggestion] Set up regulatory + cost evidence in the next two slides.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3.1 Three Structural Pain Points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Banks match clients by their money — and stay blind to how clients actually behave.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A risk tier is not a behavioral profile — and SFC says mechanical matching alone isn't enough.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917778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1156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313325" y="2365054"/>
            <a:ext cx="278723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Mis-selling, complaints &amp; regulatory exposure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71115" y="2503553"/>
            <a:ext cx="259546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 blind spot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045340" y="2107804"/>
            <a:ext cx="2878512" cy="1161317"/>
          </a:xfrm>
          <a:prstGeom prst="roundRect">
            <a:avLst>
              <a:gd name="adj" fmla="val 2411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86144" y="2503553"/>
            <a:ext cx="287851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Static, money-based KYC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 panose="020F0502020204030204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054703" y="2503553"/>
            <a:ext cx="461663" cy="46166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625617" y="2503553"/>
            <a:ext cx="461663" cy="461663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1998124" y="3360561"/>
            <a:ext cx="3257836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 risk questionnaire taken once, rarely updated; captures wealth &amp; risk tier, not behavior.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741337" y="3360561"/>
            <a:ext cx="2855020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Banks can't see a client's panic-selling, FOMO-buying, or over-trading tendencies.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77780" y="3360561"/>
            <a:ext cx="3004388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Products that exceed real suitability led to complaints, remediation, and fines.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【改进建议】结构清晰。演讲强调：风险等级 ≠ 行为画像；机械匹配不足以满足 SFC 适当性要求。这是全篇道德与商业正当性基础，勿压缩时间。</a:t>
            </a:r>
            <a:br/>
            <a:r>
              <a:t>[Suggestion] Stress risk tier ≠ behavioral profile; mechanical matching fails suitability — keep full time here.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3.2 The Cost Is Real &amp; Rising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3961" y="913181"/>
            <a:ext cx="10038303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The behavioral gap isn't abstract — it shows up as rising volume, more clients, and real fines.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Every recommendation must be justified and recorded — and the volume is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doubling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42065" y="3283565"/>
            <a:ext cx="117067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</a:rPr>
              <a:t>4.3M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59327" y="2313817"/>
            <a:ext cx="53614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600" b="1" i="1" dirty="0">
                <a:solidFill>
                  <a:schemeClr val="accent5">
                    <a:lumMod val="50000"/>
                  </a:schemeClr>
                </a:solidFill>
              </a:rPr>
              <a:t>2x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43760" y="4207177"/>
            <a:ext cx="236728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600" b="1" i="1" dirty="0">
                <a:solidFill>
                  <a:srgbClr val="903627"/>
                </a:solidFill>
              </a:rPr>
              <a:t>HK$10.85M</a:t>
            </a:r>
            <a:endParaRPr kumimoji="0" lang="zh-CN" altLang="en-US" sz="3600" b="1" i="1" u="none" strike="noStrike" cap="none" spc="0" normalizeH="0" baseline="0" dirty="0">
              <a:ln>
                <a:noFill/>
              </a:ln>
              <a:solidFill>
                <a:srgbClr val="903627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01185" y="2403433"/>
            <a:ext cx="678124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Retail-bank investment-product sales doubled (2022-2024). 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00902" y="3220578"/>
            <a:ext cx="629002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</a:rPr>
              <a:t>Securities, futures &amp; asset-management client accounts (up from 3.71M). </a:t>
            </a:r>
            <a:endParaRPr lang="zh-CN" altLang="en-US" sz="2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00902" y="4208341"/>
            <a:ext cx="6693526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903627"/>
                </a:solidFill>
              </a:rPr>
              <a:t>SFC fine on a bank for product due-diligence &amp; record-keeping failures (Dec 2025).</a:t>
            </a:r>
            <a:endParaRPr lang="zh-CN" altLang="en-US" sz="2000" dirty="0">
              <a:solidFill>
                <a:srgbClr val="903627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17920" y="6316471"/>
            <a:ext cx="590375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Sources: SFC &amp; HKMA joint press release, 11 Dec 2025 — EFG Bank AG fined HK$10.85M for product due-diligence, record-keeping &amp; late-reporting failures (2015–2020).</a:t>
            </a:r>
            <a:endParaRPr lang="en-US" altLang="zh-CN" sz="1200" i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【改进建议】HK$10.85M 罚款案例非常适合 1.5 分钟电梯演讲开场。三个指标（4.3M / 2x / 罚款）建议做口播重音，不必改原文。</a:t>
            </a:r>
            <a:br/>
            <a:r>
              <a:t>[Suggestion] Use HK$10.85M fine as elevator-pitch hook; emphasize three KPIs verbally.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3.3 This is Where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FINANO Fits</a:t>
            </a:r>
            <a:endParaRPr lang="en-US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Each pain point maps to one FINANO capability already shown in Section 1.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961" y="547161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FINANO runs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alongside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KYC — it closes the behavioral gap the questionnaire structurally cannot.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286306" y="1843180"/>
          <a:ext cx="9214814" cy="3171640"/>
        </p:xfrm>
        <a:graphic>
          <a:graphicData uri="http://schemas.openxmlformats.org/drawingml/2006/table">
            <a:tbl>
              <a:tblPr/>
              <a:tblGrid>
                <a:gridCol w="3896570"/>
                <a:gridCol w="5318244"/>
              </a:tblGrid>
              <a:tr h="4765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Pain Point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FINANO Fits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7774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Static, money-based KYC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behavioral layer, updated as the client trades 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8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Behavioral blind spot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Bidirectional Replay 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surfaces panic/FOMO/over-trading patterns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908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Mechanical matching ≠ compliance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MAFB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compliance agent auto-logs the rationale for each recommendation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【改进建议】建议在本页后新增一页：Live Demo（MAFB 控制台、FBTI、合规 JSON 输出截图）。口播补一句：React + FastAPI + LangGraph，Docker 可部署。</a:t>
            </a:r>
            <a:br/>
            <a:r>
              <a:t>[Suggestion] Insert a demo screenshot slide after this one — critical for Prototype scoring.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13851" y="2037399"/>
            <a:ext cx="10247954" cy="195220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4</a:t>
            </a:r>
            <a:endParaRPr lang="en-US" altLang="zh-CN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Expected Result / Revenue Stream Forecast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【改进建议】章节过渡：「Part 4 讲银行怎么买、我们怎么收钱」。</a:t>
            </a:r>
            <a:br/>
            <a:r>
              <a:t>[Suggestion] Transition to revenue model and BOCHK pilot.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4.1 Three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Ways to Sell to Bank</a:t>
            </a:r>
            <a:endParaRPr lang="en-US" altLang="zh-CN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We don't sell the website. We sell it three ways — matched to how banks actually buy.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961" y="5713987"/>
            <a:ext cx="1025166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For BOCHK, we propose the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Pilot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— and this competition is step one.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51760" y="1849196"/>
          <a:ext cx="9896063" cy="3339202"/>
        </p:xfrm>
        <a:graphic>
          <a:graphicData uri="http://schemas.openxmlformats.org/drawingml/2006/table">
            <a:tbl>
              <a:tblPr/>
              <a:tblGrid>
                <a:gridCol w="1124773"/>
                <a:gridCol w="2708197"/>
                <a:gridCol w="3121030"/>
                <a:gridCol w="2942063"/>
              </a:tblGrid>
              <a:tr h="495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White-Label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API Licensing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Pilot Partnership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system, bank's brand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Buy modules API:</a:t>
                      </a:r>
                      <a:endParaRPr lang="en-US" altLang="zh-CN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/ MAFB / Compliance-log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3-month PoC with BOCHK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Best for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Mid-size banks wanting a fast launch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Banks with their own app &amp; dev team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 strategic partner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947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Priced by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Annual platform license + setup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Per-usage (per call), tiered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Paid pilot → converts to a license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155178" y="3043316"/>
            <a:ext cx="874261" cy="874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【改进建议】若视觉区「三种售卖方式」仍为空，请补：按席位 / 按次API / 年度白标许可。再次点题：本次大赛 = Pilot 第一步。</a:t>
            </a:r>
            <a:br/>
            <a:r>
              <a:t>[Suggestion] Fill three sales motions if blank on layout: per-seat, per-usage API, annual white-label.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4.2 Pricing &amp; Revenue Forecast</a:t>
            </a:r>
            <a:endParaRPr lang="en-US" altLang="zh-CN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We don't sell the website. We sell it three ways — matched to how banks actually buy.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961" y="5713987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Every bank we add is high-margin recurring revenue — the cost to serve barely moves.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66873" y="1613194"/>
            <a:ext cx="184794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Pricing Levers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34304" y="1613194"/>
            <a:ext cx="464786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Simplified Forecast (illustrative)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068283" y="222087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20256" y="2174808"/>
            <a:ext cx="4645129" cy="33733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Per-seat</a:t>
            </a:r>
            <a:r>
              <a:rPr lang="en-US" altLang="zh-CN" dirty="0"/>
              <a:t> — annual license per RM / advisor using the MAFB console 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Per-usage</a:t>
            </a:r>
            <a:r>
              <a:rPr lang="en-US" altLang="zh-CN" dirty="0"/>
              <a:t> — per FBTI assessment or per MAFB analysis (API) 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Annual license</a:t>
            </a:r>
            <a:r>
              <a:rPr lang="en-US" altLang="zh-CN" dirty="0"/>
              <a:t> — flat platform fee + setup (white-label) 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Floor rule</a:t>
            </a:r>
            <a:r>
              <a:rPr lang="en-US" altLang="zh-CN" dirty="0"/>
              <a:t> — every price sits </a:t>
            </a:r>
            <a:r>
              <a:rPr lang="en-US" altLang="zh-CN" b="1" dirty="0"/>
              <a:t>above the per-analysis compute cost</a:t>
            </a:r>
            <a:r>
              <a:rPr lang="en-US" altLang="zh-CN" dirty="0"/>
              <a:t> (detail in §5)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7253959" y="222087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47473" y="2702443"/>
            <a:ext cx="4645129" cy="2542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Formula: </a:t>
            </a:r>
            <a:r>
              <a:rPr lang="en-US" altLang="zh-CN" b="1" dirty="0"/>
              <a:t>ARR = # banks × avg ACV</a:t>
            </a:r>
            <a:r>
              <a:rPr lang="en-US" altLang="zh-CN" dirty="0"/>
              <a:t> 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Y1: </a:t>
            </a:r>
            <a:r>
              <a:rPr lang="en-US" altLang="zh-CN" b="1" dirty="0"/>
              <a:t>1</a:t>
            </a:r>
            <a:r>
              <a:rPr lang="en-US" altLang="zh-CN" dirty="0"/>
              <a:t> (BOCHK pilot)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→ Y2: 3 → Y3: </a:t>
            </a:r>
            <a:r>
              <a:rPr lang="en-US" altLang="zh-CN" b="1" dirty="0"/>
              <a:t>4</a:t>
            </a:r>
            <a:r>
              <a:rPr lang="en-US" altLang="zh-CN" dirty="0"/>
              <a:t> banks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Illustrative ACV ≈ </a:t>
            </a:r>
            <a:r>
              <a:rPr lang="en-US" altLang="zh-CN" b="1" dirty="0"/>
              <a:t>US$150K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→ </a:t>
            </a:r>
            <a:r>
              <a:rPr lang="en-US" altLang="zh-CN" b="1" dirty="0"/>
              <a:t>Y3 ARR ≈ US$0.6M</a:t>
            </a:r>
            <a:r>
              <a:rPr lang="en-US" altLang="zh-CN" dirty="0"/>
              <a:t> 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i="1" dirty="0"/>
              <a:t>All figures illustrative — to be validated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867916" y="6341470"/>
            <a:ext cx="413512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Figures illustrative; ACV and bank-count are team assumptions to be validated against comparable </a:t>
            </a:r>
            <a:r>
              <a:rPr lang="en-US" altLang="zh-CN" sz="1200" i="1" dirty="0" err="1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wealthtech</a:t>
            </a:r>
            <a:r>
              <a:rPr lang="en-US" altLang="zh-CN" sz="12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vendor deals.</a:t>
            </a:r>
            <a:endParaRPr lang="en-US" altLang="zh-CN" sz="1200" i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【改进建议】Y3 ARR 示意合理；提交前与团队统一 ACV 假设。口播强调：每增一家银行，边际服务成本几乎不变 → 高毛利 recurring。</a:t>
            </a:r>
            <a:br/>
            <a:r>
              <a:t>[Suggestion] Align ACV assumptions with team; narrate high-margin recurring revenue logic.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4.3 The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Pilot: What We’ll Prove</a:t>
            </a:r>
            <a:endParaRPr lang="en-US" altLang="zh-CN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3961" y="913181"/>
            <a:ext cx="10038303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 3-month A/B pilot with BOCHK — FINANO arm vs. a traditional-KYC control group.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961" y="572513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= a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measurable lift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in suitability and compliance efficiency — proof we can scale to other GBA banks.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024154" y="1673482"/>
          <a:ext cx="9951276" cy="3749785"/>
        </p:xfrm>
        <a:graphic>
          <a:graphicData uri="http://schemas.openxmlformats.org/drawingml/2006/table">
            <a:tbl>
              <a:tblPr/>
              <a:tblGrid>
                <a:gridCol w="3072526"/>
                <a:gridCol w="4974754"/>
                <a:gridCol w="1903996"/>
              </a:tblGrid>
              <a:tr h="294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Metric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 we measure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Target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Suitability match rate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 of recommendations clients accept as suitable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Unsuitable flags caught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mismatches blocked by the profiling threshold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caught earlier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logging time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minutes to document each recommendation's rationale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Young-client uptake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product conversion in the 25–35 segment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 satisfaction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NPS / CSAT vs. control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26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Complaint rate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investment-product complaints per 1,000 clients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【改进建议】在原文 Success 句之后口播补充：「参加 BOCHK Challenge 2026 的目的，就是争取与中银香港落地 3 个月 A/B PoC」。明确成功指标：适当性提升%、合规记录耗时下降%、投诉率 proxy。</a:t>
            </a:r>
            <a:br/>
            <a:r>
              <a:t>[Suggestion] Verbal CTA: winning enables BOCHK PoC; define measurable pilot KPIs.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3049581" y="2037399"/>
            <a:ext cx="7776494" cy="195220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5</a:t>
            </a:r>
            <a:endParaRPr lang="en-US" altLang="zh-CN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Cost and Benefit Analysis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【改进建议】章节过渡：「Part 5 证明银行端 ROI 与我们定价底线」。</a:t>
            </a:r>
            <a:br/>
            <a:r>
              <a:t>[Suggestion] Bridge to bank ROI and unit economics.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7" y="88020"/>
            <a:ext cx="6414848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5.1 What</a:t>
            </a:r>
            <a:r>
              <a:rPr lang="zh-CN" altLang="en-US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the Bank Gains</a:t>
            </a:r>
            <a:endParaRPr lang="en-US" altLang="zh-CN" sz="32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84892" y="943661"/>
            <a:ext cx="10429799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FINANO pays for itself through four bank-side gains — three save cost, one grows revenue.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961" y="5725135"/>
            <a:ext cx="1025166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Three of these cut cost, one grows the book — the value to the bank is 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concrete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, not cosmetic.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55224" y="1768522"/>
          <a:ext cx="9489134" cy="3902529"/>
        </p:xfrm>
        <a:graphic>
          <a:graphicData uri="http://schemas.openxmlformats.org/drawingml/2006/table">
            <a:tbl>
              <a:tblPr/>
              <a:tblGrid>
                <a:gridCol w="2604837"/>
                <a:gridCol w="1328732"/>
                <a:gridCol w="5555565"/>
              </a:tblGrid>
              <a:tr h="4151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Benefit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it</a:t>
                      </a: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49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Lower compliance cost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 agent auto-logs each recommendation's rationale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51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Fewer complaints &amp; remediation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↓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Suitability-first matching catches mismatches before the sale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69545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Higher conversion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Behavior-matched recommendations clients actually accept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521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Win younger clients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 ↑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FBTI + Bidirectional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Replay as a sticky layer for the 25–35 segment</a:t>
                      </a:r>
                      <a:endParaRPr lang="zh-CN" alt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【改进建议】若页面未列出四项银行收益，建议新增一页明细（不改本页原文）：降投诉/罚款、降 RM 记录工时、提升交叉销售、提升客户留存。</a:t>
            </a:r>
            <a:br/>
            <a:r>
              <a:t>[Suggestion] If four gains are not visualized, add a detail slide — do not delete this slide's text.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6" y="88020"/>
            <a:ext cx="8558211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5.2 Our</a:t>
            </a:r>
            <a:r>
              <a:rPr lang="zh-CN" altLang="en-US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Cost Structure &amp; the Pricing Floor</a:t>
            </a:r>
            <a:endParaRPr lang="en-US" altLang="zh-CN" sz="3200" b="1" dirty="0">
              <a:solidFill>
                <a:schemeClr val="tx1"/>
              </a:solidFill>
              <a:highlight>
                <a:srgbClr val="FFFF00"/>
              </a:highlight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6872" y="1775754"/>
            <a:ext cx="218208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Cost Structure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84842" y="1775754"/>
            <a:ext cx="241233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The Pricing Floor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068283" y="238343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20256" y="2547408"/>
            <a:ext cx="4645129" cy="2957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R&amp;D </a:t>
            </a:r>
            <a:r>
              <a:rPr lang="en-US" altLang="zh-CN" dirty="0"/>
              <a:t>— engineering team (largely fixed, already built)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Compute </a:t>
            </a:r>
            <a:r>
              <a:rPr lang="en-US" altLang="zh-CN" dirty="0"/>
              <a:t>— per MAFB analysis: 5 agents + compliance review ← the key variable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Data APIs </a:t>
            </a:r>
            <a:r>
              <a:rPr lang="en-US" altLang="zh-CN" dirty="0"/>
              <a:t>— fund NAV / market data feeds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Ops &amp; hosting </a:t>
            </a:r>
            <a:r>
              <a:rPr lang="en-US" altLang="zh-CN" dirty="0"/>
              <a:t>— servers, vector DB, maintenance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7253959" y="2383434"/>
            <a:ext cx="4749077" cy="3285811"/>
          </a:xfrm>
          <a:prstGeom prst="roundRect">
            <a:avLst>
              <a:gd name="adj" fmla="val 584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86363" y="2755156"/>
            <a:ext cx="4284268" cy="2542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highlight>
                  <a:srgbClr val="FFFF00"/>
                </a:highlight>
              </a:rPr>
              <a:t>Cost per MAFB analysis ≈ HK$[ ___ ] </a:t>
            </a:r>
            <a:endParaRPr lang="en-US" altLang="zh-CN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Rule: </a:t>
            </a:r>
            <a:r>
              <a:rPr lang="en-US" altLang="zh-CN" b="1" dirty="0"/>
              <a:t>price per analysis &gt; compute cost per analysis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Levers that lower the floor: hybrid model routing, semantic caching (avoids re-running duplicate queries)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8097520" y="6259034"/>
            <a:ext cx="390551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altLang="zh-CN" sz="1400" i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Compute cost per analysis to be supplied by engineering team (based on actual model-call logs).</a:t>
            </a:r>
            <a:endParaRPr lang="en-US" altLang="zh-CN" sz="1400" i="1" dirty="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84892" y="943661"/>
            <a:ext cx="10429799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The compute cost per MAFB analysis: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【改进建议】请工程组填写 HK$[___] 单次 MAFB 算力成本；口播补充：API routing + local LLM fallback 控制 GenAI token 成本。</a:t>
            </a:r>
            <a:br/>
            <a:r>
              <a:t>[Suggestion] Fill compute cost placeholder; mention hybrid routing &amp; local fallback for GenAI cost control.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848896" y="88020"/>
            <a:ext cx="8558211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200" b="1" dirty="0">
                <a:solidFill>
                  <a:schemeClr val="tx1"/>
                </a:solidFill>
                <a:highlight>
                  <a:srgbClr val="FFFF00"/>
                </a:highlight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5.3 Break-Even Logic: Counted in Banks</a:t>
            </a:r>
            <a:endParaRPr lang="en-US" altLang="zh-CN" sz="3200" b="1" dirty="0">
              <a:solidFill>
                <a:schemeClr val="tx1"/>
              </a:solidFill>
              <a:highlight>
                <a:srgbClr val="FFFF00"/>
              </a:highlight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1780" y="2123804"/>
            <a:ext cx="221728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Fixed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Cost / Year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48896" y="784903"/>
            <a:ext cx="10429799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Because our costs are mostly fixed, break-even depends on one thing — how many banks we sign.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23910" y="2123804"/>
            <a:ext cx="282891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Contribution / Bank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37670" y="2123803"/>
            <a:ext cx="1670673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i="1" dirty="0"/>
              <a:t>Break-Even</a:t>
            </a:r>
            <a:endParaRPr kumimoji="0" lang="zh-CN" altLang="en-US" sz="2400" b="1" i="1" u="none" strike="noStrike" cap="none" spc="0" normalizeH="0" baseline="0" dirty="0">
              <a:ln>
                <a:noFill/>
              </a:ln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60801" y="2832180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R&amp;D + ops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5523371" y="2832180"/>
            <a:ext cx="28289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ACV </a:t>
            </a:r>
            <a:r>
              <a:rPr lang="en-US" altLang="zh-CN" b="1" dirty="0"/>
              <a:t>−</a:t>
            </a:r>
            <a:r>
              <a:rPr lang="en-US" altLang="zh-CN" dirty="0"/>
              <a:t> compute-per-bank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8915400" y="2832180"/>
            <a:ext cx="177582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banks needed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2960801" y="3428998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HK$ </a:t>
            </a:r>
            <a:r>
              <a:rPr lang="en-US" altLang="zh-CN" dirty="0" err="1"/>
              <a:t>xxxxxx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6294175" y="3410015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/>
              <a:t>HK$ </a:t>
            </a:r>
            <a:r>
              <a:rPr lang="en-US" altLang="zh-CN" dirty="0" err="1"/>
              <a:t>xxxxxx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9151983" y="3382832"/>
            <a:ext cx="15392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dirty="0" err="1"/>
              <a:t>Xxx</a:t>
            </a:r>
            <a:r>
              <a:rPr lang="en-US" altLang="zh-CN" dirty="0"/>
              <a:t> banks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【改进建议】提交前替换 HK$ xxxxxx / Xxx banks 为团队测算值；口播：固定成本为主，盈亏平衡看「签约银行数」。</a:t>
            </a:r>
            <a:br/>
            <a:r>
              <a:t>[Suggestion] Replace placeholder break-even numbers before submission.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2" y="0"/>
            <a:ext cx="12192000" cy="6857999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3657" y="-2"/>
            <a:ext cx="10508343" cy="68580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2428583" y="2037399"/>
            <a:ext cx="9018489" cy="195220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20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Part 6</a:t>
            </a:r>
            <a:endParaRPr lang="en-US" altLang="zh-CN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  <a:sym typeface="游ゴシック体 ミディアム"/>
            </a:endParaRPr>
          </a:p>
          <a:p>
            <a:pPr algn="ctr">
              <a:lnSpc>
                <a:spcPct val="150000"/>
              </a:lnSpc>
              <a:defRPr sz="3200">
                <a:solidFill>
                  <a:srgbClr val="AFABAB"/>
                </a:solidFill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rPr lang="en-US" altLang="zh-CN" sz="360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sym typeface="游ゴシック体 ミディアム"/>
              </a:rPr>
              <a:t>Anticipated Challenges &amp; Solutions</a:t>
            </a:r>
            <a:endParaRPr lang="en-US" sz="3600" b="1" dirty="0">
              <a:solidFill>
                <a:schemeClr val="tx1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5532120"/>
            <a:ext cx="11521440" cy="1234440"/>
          </a:xfrm>
          <a:prstGeom prst="rect">
            <a:avLst/>
          </a:prstGeom>
          <a:solidFill>
            <a:srgbClr val="FFF8E7"/>
          </a:solidFill>
          <a:ln>
            <a:solidFill>
              <a:srgbClr val="CC6600"/>
            </a:solidFill>
          </a:ln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8B0000"/>
                </a:solidFill>
              </a:defRPr>
            </a:pPr>
            <a:r>
              <a:t>【改进建议】本页正文尚空，建议新增一页（保留本标题）写入四条挑战与对策：①监管边界→合规节点+人工复核；②GenAI成本/延迟→缓存+规则降级；③数据可靠性→快照+节流；④银行集成→白标API/RM 控制台试点。</a:t>
            </a:r>
            <a:br/>
            <a:r>
              <a:t>[Suggestion] Add content slide: regulatory boundary, GenAI cost, data reliability, bank integration.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12975</Words>
  <Application>WPS 演示</Application>
  <PresentationFormat>宽屏</PresentationFormat>
  <Paragraphs>519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Calibri Light</vt:lpstr>
      <vt:lpstr>Arial</vt:lpstr>
      <vt:lpstr>Helvetica</vt:lpstr>
      <vt:lpstr>游ゴシック体 ミディアム</vt:lpstr>
      <vt:lpstr>FFont-Family</vt:lpstr>
      <vt:lpstr>Yu Gothic</vt:lpstr>
      <vt:lpstr>游ゴシック体 ボールド</vt:lpstr>
      <vt:lpstr>Courier New</vt:lpstr>
      <vt:lpstr>Cordia New</vt:lpstr>
      <vt:lpstr>Calibri</vt:lpstr>
      <vt:lpstr>微软雅黑</vt:lpstr>
      <vt:lpstr>Arial Unicode MS</vt:lpstr>
      <vt:lpstr>KSOFB4AB0A6B</vt:lpstr>
      <vt:lpstr>Office Theme</vt:lpstr>
      <vt:lpstr>中銀香港創新先驅大賽2026計劃書 BOCHK Challenge 2026 Proposal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中銀香港創新先驅大賽2020-21計劃書 BOCHK Challenge 2020-21 Proposal</dc:title>
  <dc:creator>CHOW SAI YAT MORRIS (周世逸)</dc:creator>
  <cp:lastModifiedBy>北回归线上的踯躅</cp:lastModifiedBy>
  <cp:revision>99</cp:revision>
  <dcterms:created xsi:type="dcterms:W3CDTF">2026-06-10T05:28:38Z</dcterms:created>
  <dcterms:modified xsi:type="dcterms:W3CDTF">2026-06-10T05:38:35Z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2AD9608A4CB94E369540D9C82CF0FBED_12</vt:lpwstr>
  </property>
</Properties>
</file>