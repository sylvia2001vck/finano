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FINANO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[FINANO Concept Film]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15-second brand concept opening.</a:t>
            </a:r>
          </a:p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[Embed intro video: pitch-deck/assets/finano_concept.mp4]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FINANO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[Behavioral Finance x Metaphysics x Multi-Agent AI]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An LLM-powered wealth co-pilot combining FBTI financial personality, Bazi-driven emotional engagement, LangGraph multi-agent analysis, and bidirectional trade replay.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[Table of Contents]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Elevator Pitch &amp; Pain Points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One-line pitch, user pain points, value proposition, and product impact.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Product &amp; Tech Barrier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FBTI, MAFB, RAG Replay, AI Fund Selector, and product demos.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Industrial &amp; Market Analysis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AI wealth management trends, Gen-Z market gaps, and competitive advantages.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Marketing &amp; Operation Plan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4Ps, personality-card virality, channel strategy, and operating loop.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Management Team &amp; Financial Plan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Pricing tiers, team equity, HKD 500K funding ask, revenue forecast, and break-even.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Lean Canvas &amp; Exit Strategy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Lean Canvas, early adopters, business path, exit strategy, and Q&amp;A.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Pitch Narrative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864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[Roadmap]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Elevator Pitch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Pain points, value proposition, and the blend of emotional value with professional analysis.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Product &amp; Barrier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The technical moat across FBTI, MAFB, Replay, and AI Fund Selector.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Market Analysis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AI wealth management growth, Gen-Z mindshare, and competitive differentiation.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Go-to-Market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4Ps, pricing tiers, viral FBTI cards, and the operating loop.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04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Team &amp; Finance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Equity split, HKD 500K ask, use of funds, revenue forecast, and break-even.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Lean Canvas &amp; Exit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Business model, key metrics, acquisition path, and SaaS scaling route.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Elevator Pitch &amp; 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1]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Finano = MBTI + Metaphysics + Behavioral Finance x LLM Multi-Agent 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Turning Wealth Management from a Task into an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[Pain Point / Value / Impact]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Traditional Tools Feel Cold and Generic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Investors struggle to translate historical lessons into present decisions, and rarely stay engaged with financial tools that lack a sense of companionship.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Pain Points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 Financial Personality System Powered by FBTI + Bazi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Behavioral finance captures real user preferences, metaphysical semantics provide emotional value, and AI agents execute professional analysis.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Value Proposition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 High-Retention Wealth Entry Point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Shareable, explainable, and replayable interactions improve conversion, retention, and repeat usage among Gen-Z investors.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8 Behavioral Finance Questions, 16 Investor Personality Types</a:t>
            </a:r>
          </a:p>
        </p:txBody>
      </p:sp>
      <p:pic>
        <p:nvPicPr>
          <p:cNvPr id="4" name="Picture 3" descr="fbti-assessmen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670687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72000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[FBTI: Finance-Based Type Indicator]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Assessment Flow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8 behavioral finance scenario questions, each with A/B choices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4 dimensions x 2 questions generate a 4-letter type code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Maps to 16 financial personality types, such as RLDC Holder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Adds birthday-based Five Elements derivation for a more engaging persona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The FBTI code drives personalization across all AI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Visual Archive of 16 Financial Personality Types</a:t>
            </a:r>
          </a:p>
        </p:txBody>
      </p:sp>
      <p:pic>
        <p:nvPicPr>
          <p:cNvPr id="4" name="Picture 3" descr="fbti-personality-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436896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7200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[FBTI Personality Cards]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Four-Dimensional Personality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[Financial Personality Archive]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Conservative Long RL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RLDC Holder · RLDA Balancer · RLFC Devotee · RLFA Gentle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Conservative Short RT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RTDC Swinger · RTDA Arbitrageur · RTFC Sharp · RTFA Dabbler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Aggressive Long SL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SLDC Captain · SLDA Pioneer · SLFC Lone Wolf · SLFA Pathfinder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Aggressive Short ST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STDC Breaker · STDA Sprinter · STFC Wind Chaser · STFA Nomad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Product &amp; Tech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2]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LangGraph 8-node state machine, 5-way parallel sub-agents, compliance interception, and strict JSON constraints.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LangGraph 8-Node Main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[MAFB: Multi-Agent Financial Console]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The Full Output Chain from Data Preheat to Compliance Interception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[MAFB Key Designs]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Unified Preheat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Five agents share preheated data, avoiding separate quote, fundamental, and risk pulls while reducing database conflicts.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Strong JSON Constraint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Each agent outputs only agent_name / score / reason, with score strictly constrained from -2 to +2.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Rule Fallback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data_not_ready is returned only when all core features are missing; model failures fall back to the rule engine.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Final Report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weighted_total, scores, reasons, single_fund_analysis, technical_summary, risk_summary, compliance, disclaimer.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Parallel Processing, Distinct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4096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[Five Sub-Agents]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Fundamental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snapshot + fundamentals + news assist; metric_hints: concentration / drift / manager / scale / sharpe / drawdown.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 0.24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Technical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nav_rows_for_technical, technical_retrieval, EMA / Bias / RSI / MACD; degrades when NAV data is insufficient.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 0.24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Risk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risk_summary, rating, drawdown, volatility, VaR95, Sortino, liquidity, correlation, and risk_warning.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 0.22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Attribution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Prioritizes a rule engine, performance_style_attribution, excess return proxy, and return source decomposition.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 0.18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Profiling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The only agent allowed to reference user_profile JSON; inputs fund_data + user_profile + risk_level to judge profile fit / mismatch.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weight 0.12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Strict Output Constraints with Professional Guardrails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584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[Compliance &amp; Prompt Engineering]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_build_score_prompt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Model Calling Strategy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Primary: DashScope qwen-plus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Canary: qwen3 whitelist trial + fallback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Concurrency gate + timeout control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Failure fallback to rule engine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Trace: llm_try / llm_raw / agent_done / queue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Prompt Guardrail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reason must include: 1) core conclusion, 2) at least two hard factual values, 3) logic chain, and 4) score tag.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Profile Boundary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Non-profiling agents are forbidden to mention user / profile / fit, preventing personality preference from contaminating fundamental and risk judgments.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Compliance Agent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Review 5-agent output -&gt; Flag violations -&gt; Trigger blocked branch -&gt; Generate disclaimer.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Use Metaphysics for Stickiness, RAG for Replay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[Bidirectional Replay &amp; Bazi Selection]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Trade -&gt; Notes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After trade-curve features are written, cosine similarity is matched against same-user, same-fund history; hits route to history_compare.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Note -&gt; Trades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Note vectors retrieve ReflectionEmbedding, FAISS is preferred, NumPy dot is the fallback, then trade_id / symbol / profit are reverse-looked up.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Bazi Selection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Birthday semantic parsing becomes a personalized prompt seed, while the core selection still relies on factor strategy, candidate-pool scoring, and LLM Top5 explanation.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Cross-Time Replay: From Trades to Notes, from Notes to Trades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[Trade &amp; Replay]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New trades and notes automatically maintain vector features, and write failures do not block the main flow.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Static Diagnosis + Retrieval-Based Replay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[Two-Layer AI Analysis]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Single-Trade AI Diagnosis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POST /api/v1/ai/analyze/{trade_id}; impl: analyze_trade() in qwen_finance.py; key -&gt; model call, no-key -&gt; _local_analysis() rule engine.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Layer A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Replay AI with Retrieval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Impl: _llm_replay_analysis(); inputs anonymized object, similar samples, and routing result; parses direct JSON or extracts a JSON block, with fixed-advice fallback on failure.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Layer 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Natural Language -&gt; Financial Strategy -&gt; Function Call -&gt; LLM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[AI Fund Selector]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Semantic Parse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Birthday, mood, and investment intent are parsed into intent / mapped_sectors / strategy_style.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Rule Candidate Pool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Factor strategy bundles drive the Top20 candidate pool, with fallback at every stage.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SSE Streaming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/fbti-select/stream pushes stage-by-stage progress, increasing trust in the AI workflow.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Core Dashboard: Returns, Curves, and Financial Hotspots</a:t>
            </a:r>
          </a:p>
        </p:txBody>
      </p:sp>
      <p:pic>
        <p:nvPicPr>
          <p:cNvPr id="4" name="Picture 3" descr="demo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3572539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57200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[System Demo / Dashboard]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MAFB Results: Fund NAV Curve and Structured Output</a:t>
            </a:r>
          </a:p>
        </p:txBody>
      </p:sp>
      <p:pic>
        <p:nvPicPr>
          <p:cNvPr id="4" name="Picture 3" descr="demo-mafb-results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622953" cy="3200400"/>
          </a:xfrm>
          <a:prstGeom prst="rect">
            <a:avLst/>
          </a:prstGeom>
        </p:spPr>
      </p:pic>
      <p:pic>
        <p:nvPicPr>
          <p:cNvPr id="5" name="Picture 4" descr="demo-mafb-results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8638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[System Demo / MAFB Results]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RAG Retrieval: Trade Replay and Historical Reflection Matching</a:t>
            </a:r>
          </a:p>
        </p:txBody>
      </p:sp>
      <p:pic>
        <p:nvPicPr>
          <p:cNvPr id="4" name="Picture 3" descr="demo-rag-retrieval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5425843" cy="3200400"/>
          </a:xfrm>
          <a:prstGeom prst="rect">
            <a:avLst/>
          </a:prstGeom>
        </p:spPr>
      </p:pic>
      <p:pic>
        <p:nvPicPr>
          <p:cNvPr id="5" name="Picture 4" descr="demo-rag-retrieval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0"/>
            <a:ext cx="618744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863840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[System Demo / RAG Retrieval]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AI Fund Select: From Entertainment Input to Explainable Top5</a:t>
            </a:r>
          </a:p>
        </p:txBody>
      </p:sp>
      <p:pic>
        <p:nvPicPr>
          <p:cNvPr id="4" name="Picture 3" descr="demo-ai-fund-selec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574154" cy="3200400"/>
          </a:xfrm>
          <a:prstGeom prst="rect">
            <a:avLst/>
          </a:prstGeom>
        </p:spPr>
      </p:pic>
      <p:pic>
        <p:nvPicPr>
          <p:cNvPr id="5" name="Picture 4" descr="demo-ai-fund-select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572000"/>
            <a:ext cx="11155680" cy="26472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7310735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[System Demo / AI Fund Select]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Technical Highlights and Course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[Project Summary]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GitHub: github.com/Sylvia2001vck/FINANO · Open source for educational demo only, not investment advice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Technical Highlights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FBTI personalization: 8Q -&gt; 4D -&gt; 16T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Bidirectional retrieval: Trade -&gt; Notes + Note -&gt; Trades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MAFB 5-way parallelism + unified preheat + compliance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Unified Prompt Template + JSON constraint + metric_hints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AI Fund Selector 7-stage semantic orchestration + SSE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Full-chain fallback: no crash when any stage fails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Course Takeaways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LangGraph State Machine + Send parallel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Prompt JSON structuring + multi-model routing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Multi-Agent Collaboration: differentiated data sources + unified scoring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RAG: Local Embedding + FAISS retrieval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React 18 + FastAPI + Docker end-to-end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Industrial &amp; Market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3]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AI + wealth management is growing rapidly, but Gen-Z needs a more personalized and entertaining entry point.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AI Wealth Management Is Booming, but Tools for Young Users Are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[Market Environment &amp; Size]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% CAGR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Core Market Gaps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MBTI / Metaphysics / AI Native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Finano vs. Traditional Robo-Advisors vs. General LLMs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792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[Competitive Advantage]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Traditional Robo-Advisors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Professional in asset allocation, but shallow in personality understanding, weak in interaction, and reliant on returns rather than relationships for retention.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Finano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FBTI virality, Bazi emotional value, a professional MAFB foundation, and a bidirectional replay moat.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General LLMs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Strong expression ability, but lacking financial data sources, compliance interception, investment history, and reusable analysis pipelines.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Marketing &amp; Operation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4]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Use FBTI cards as an acquisition flywheel and replay loops for long-term retention.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From Personality-Test Virality to Subscription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[Marketing Mix: 4Ps]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Personalized AI Wealth Assistant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FBTI + MAFB + Replay + Fund Selector.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Product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Freemium + B2B API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Standard free tier, Diamond at ¥39/month or ¥369/year, plus customized institutional API licensing.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Price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Social Media + GitHub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Share personality cards and attract open-source communities to validate the architecture.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Place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Viral Promotion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Identity labels such as 'I am an RLDC Holder' lower the sharing barrier.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Promotion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Product Operating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[Business Process]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Assessment -&gt; Analysis -&gt; Execution -&gt; Replay -&gt; Optimization. Every interaction strengthens the user profile and improves replay quality.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Management Team &amp; Financial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5]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AI engineering, behavioral finance, full-stack development, and an ultra-low-cost structure create early advantages.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Freemium Acquisition, Premium Monetization, B2B API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632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[Pricing Model]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Free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¥0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Basic FBTI assessment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1 AI fund selection per day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Personality card sharing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Standard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Subscription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¥39/mo · ¥369/yr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MAFB 8-node deep replay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Unlimited real-time calculations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Personal wealth alignment insights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Diamond · Premium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/mo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/yr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B2B API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Custom annual license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White-label FBTI + MAFB modules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Compliance-ready agent pipeline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Wealth community / brokerage integration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Institutional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annual license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Executive Leadership · Six-Person C-Suite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37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[Management Team]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Six-member C-suite: Sylvia (Founder/CEO/CTO), Wang Xinyi (CDO), Zack (CSO), Jiang Haoyu (CGO), Wu Xinze (CMO), Zhao Junyi (COO).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Sylvia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Founder, CEO &amp; CTO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Visionary founder and core system architect. Orchestrates FINANO's long-term business trajectory while pioneering the proprietary LangGraph multi-agent framework. Fuses high-performance distributed engineering with end-to-end full-stack deployment and deep product integration.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Wang Xinyi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Data Officer · CDO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Data engineering powerhouse. Architect of FINANO's automated financial data synchronization engines and real-time analytical pipelines. Controls data integrity, risk modeling storage, and database optimizations to fuel the core multi-agent ecosystem.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Zack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Strategy Officer · CSO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strategic architect steering Finano's institutional capital roadmap and dual-track exit strategies (M&amp;A/IPO). Spearheads financial structuring, market positioning, and cross-border resource allocation to bridge cutting-edge AI with Tier-1 financial institutions.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Jiang Haoyu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Growth Officer · CGO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Growth &amp; market monetization strategist. Drives Finano's market penetration through deep-tier industrial intelligence and user acquisition scaling. Translates complex fintech dynamics into actionable growth vectors to capture high-yield market shares and expand brand equity.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Wu Xinze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Marketing Officer · CMO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Mastermind of market mechanics and business process architecture. Structures FINANO's strategic 4P/4C marketing matrix and end-to-end service delivery workflows. Engineers adaptive, contingency-driven plans to safeguard market positioning against macro shifts.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Zhao Junyi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Chief Operating Officer · COO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Operational strategist and master BP architect. Orchestrates FINANO's comprehensive business blue-printing, commercial modeling, and cross-functional operational scaling. Bridges corporate vision with disciplined execution vectors to maximize organizational efficiency.</a:t>
            </a:r>
          </a:p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[Team photos included in HTML — see assets/team-*.png]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Sylvia 100% Control · 40% Team Incentive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[Equity Structure]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Sylvia holds 100% control as founder. The six-person C-suite covers technology, data, strategy, growth, marketing, and operations; the 40% incentive pool remains reserved for future core hires.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Sylvia100% Founder · CEO &amp; CTO · Full Control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Team Incentive Pool40% Reserved for core developers &amp; key hires (no co-founder equity)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100%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Founder · CEO &amp; CTO · Full Control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Reserved for core developers &amp; key hires (no co-founder equity)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Complementary Skills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Sylvia holds 100% control as founder. The six-person C-suite covers technology, data, strategy, growth, marketing, and operations; the 40% incentive pool remains reserved for future core hires.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LLM / Agents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Data / Pipeline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Full-Stack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Strategy / Capital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Growth / Monetization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Marketing / 4P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Operations / BP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LLM / Agents: Sylvia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Data / Pipeline: Wang Xinyi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Full-Stack: Sylvia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Strategy / Capital: Zack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Growth / Monetization: Jiang Haoyu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Marketing / 4P: Wu Xinze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• Operations / BP: Zhao Junyi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HKD 500,000 for 10% · 12-Month Runway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[Funding Ask &amp; Use of Funds]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Implied pre-money valuation: HKD 5.0M. Funds deploy over 12 months across compliance, acquisition, and compute reserves.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HKD raise · 10% equity offered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Runway target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Equity offered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HKD implied valuation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Use of Funds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R&amp;D &amp; Compute Infrastructure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Marketing &amp; Viral Acquisition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Legal Compliance &amp; Financial API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General Operations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Low Burn Rate, Low Break-Even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[Financial Plan &amp; Initial Capital]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Cursor Pro / Pro+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Cloud Server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LLM API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RMB / month current MVP burn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Break-even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Post-funding scale: at 10,000 users with 3% Diamond conversion, monthly subscription revenue reaches ~¥11,700; two B2B API licenses at ¥2,000/month each push total recurring revenue above ¥15,700/month, covering scaled compute and ops.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3-Year Revenue Projection with Key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[Revenue Forecast]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Assumptions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Year 1: 2,000 MAU · 4% Diamond · 1 B2B API (¥8K/mo)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Year 2: 8,000 MAU · 5% Diamond · 2 B2B APIs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Year 3: 20,000 MAU · 6% Diamond · 4 B2B APIs + annual plans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ARPU: ¥39/mo subscription + custom B2B licensing</a:t>
            </a:r>
          </a:p>
          <a:p>
            <a:pPr>
              <a:spcBef>
                <a:spcPts val="400"/>
              </a:spcBef>
              <a:defRPr sz="1300" b="1">
                <a:solidFill>
                  <a:srgbClr val="A1A1AA"/>
                </a:solidFill>
              </a:defRPr>
            </a:pPr>
            <a:r>
              <a:t>• Payback: &lt; 18 months on HKD 500K raise (base case)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Year 1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Year 2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Year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Lean Canvas &amp;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[Part 6]</a:t>
            </a:r>
          </a:p>
          <a:p>
            <a:pPr>
              <a:spcBef>
                <a:spcPts val="400"/>
              </a:spcBef>
              <a:defRPr sz="1400" b="0">
                <a:solidFill>
                  <a:srgbClr val="FAFAFA"/>
                </a:solidFill>
              </a:defRPr>
            </a:pPr>
            <a:r>
              <a:t>FINANO is 16Personalities meets Wealthfront, Spotify Discover Weekly for mutual funds.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One Canvas to Explain the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[Lean Canvas Summary]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Problem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Generic advice lacks behavioral personalization; traders struggle to connect historical market contexts with current decisions; financial tools feel clinical and boring.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Solution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FBTI &amp; Bazi Profiling, Bazi-Infused AI Fund Selection, Bidirectional Replay.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UVP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Behavioral finance + traditional metaphysics + multi-agent AI deliver hyper-personalized, interactive fund selection and strategy replay.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Unfair Advantage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16-type FBTI, Bazi routing, strict JSON prompts, and a LangGraph 8-node parallel compliance pipeline.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Customer Segments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Retail investors, investment-journal users, and Gen-Z users attracted by MBTI + metaphysics.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Key Metrics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Assessment completion, share rate, pipeline success, replay retention, and subscription conversion.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Alternatives, Channels, and Early Adopters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3328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[Lean Canvas Details]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Existing Alternatives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Traditional robo-advisors, manual trading journals/spreadsheets, and entertainment fortune-telling apps all lack the combination of real financial data + LLM agents + personalized replay.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High-Level Concept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16Personalities meets Wealthfront; Spotify Discover Weekly for mutual funds; GitHub Copilot for retail trading.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Channels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GitHub &amp; open-source communities, social-media FBTI card virality, finance/quant student communities, and API licensing to wealth-content communities.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Early Adopters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AI-finance metaphysics enthusiasts, quant finance students, open-source developers, and Gen-Z investors who love MBTI and investment journaling.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Customer Segments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Retail investors seeking data-driven personalization, tech-savvy traders maintaining investment journals, and young users looking for an entertaining entry point.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Core Message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An AI financial lifecycle co-pilot combining FBTI, Bazi, LangGraph multi-agent orchestration, and bidirectional RAG replay.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Investment Creates Value · Two Exit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[Exit Strategy]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How HKD 500K Builds the Moat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Compliance-ready MAFB pipeline, FBTI viral acquisition, and compute reserves convert capital into defensible product velocity and broker-ready modules within 12 months.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Value Creation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Acquisition by Leading Brokerages / Financial Groups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Platforms such as Futu and Tiger need Finano's FBTI virality and metaphysical wealth modules to activate Gen-Z retail traffic.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Path A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Independent SaaS Scaling and IPO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Long-term commercialization through a high-retention financial traffic entry point, API licensing, and subscription revenue.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Path 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AFAFA"/>
                </a:solidFill>
              </a:defRPr>
            </a:pPr>
            <a:r>
              <a:t>Is Metaphysical Fund Selection Unscientific?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[Q&amp;A]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We are not replacing science with metaphysics. We use metaphysics to provide emotional value, while multi-agent systems execute scientific quantification.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In our system, birthday/Bazi is essentially a personalized prompt seed. The frontend presents fortune-style companionship that matches user expectations, while the underlying Fundamental Agent and Risk Agent still use serious quantitative factors such as fund financial reports, max drawdown, and Sharpe ratio.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Metaphysics solves acquisition and stickiness; AI agents safeguard professionalism and risk control. That is Finano's business moat.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247120" y="182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1A1AA"/>
                </a:solidFill>
              </a:defRPr>
            </a:pPr>
            <a:r>
              <a:t>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AFAFA"/>
                </a:solidFill>
              </a:defRPr>
            </a:pPr>
            <a:r>
              <a:t>Can We Afford API Compute Costs at Tens of Thousands of Users?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D4D4D8"/>
                </a:solidFill>
              </a:defRPr>
            </a:pPr>
            <a:r>
              <a:t>[Q&amp;A]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The high call volume during development mainly came from Cursor advanced agents performing architecture refactoring and frontend-backend integration. This is a one-time R&amp;D investment.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After launch, each request will be cache-optimized and routed to cost-efficient model APIs. The token cost of a single 5-way parallel multi-agent request can be compressed to roughly ¥0.05-¥0.10.</a:t>
            </a:r>
          </a:p>
          <a:p>
            <a:pPr>
              <a:spcBef>
                <a:spcPts val="400"/>
              </a:spcBef>
              <a:defRPr sz="1300" b="0">
                <a:solidFill>
                  <a:srgbClr val="FAFAFA"/>
                </a:solidFill>
              </a:defRPr>
            </a:pPr>
            <a:r>
              <a:t>With elastic extra-credit packages, heavy users pay for additional usage themselves, creating a SaaS model where fixed costs are locked and variable costs are shared by paying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