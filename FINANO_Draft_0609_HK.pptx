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62" r:id="rId4"/>
    <p:sldId id="269" r:id="rId5"/>
    <p:sldId id="270" r:id="rId6"/>
    <p:sldId id="271" r:id="rId7"/>
    <p:sldId id="264" r:id="rId8"/>
    <p:sldId id="272" r:id="rId9"/>
    <p:sldId id="273" r:id="rId10"/>
    <p:sldId id="274" r:id="rId11"/>
    <p:sldId id="265" r:id="rId12"/>
    <p:sldId id="275" r:id="rId13"/>
    <p:sldId id="276" r:id="rId14"/>
    <p:sldId id="277" r:id="rId15"/>
    <p:sldId id="266" r:id="rId16"/>
    <p:sldId id="278" r:id="rId17"/>
    <p:sldId id="279" r:id="rId18"/>
    <p:sldId id="280" r:id="rId19"/>
    <p:sldId id="267" r:id="rId20"/>
    <p:sldId id="281" r:id="rId21"/>
    <p:sldId id="282" r:id="rId22"/>
    <p:sldId id="283" r:id="rId23"/>
    <p:sldId id="268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3627"/>
    <a:srgbClr val="C85E52"/>
    <a:srgbClr val="C34027"/>
    <a:srgbClr val="E9BFB4"/>
    <a:srgbClr val="FFB9A9"/>
    <a:srgbClr val="F56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9" autoAdjust="0"/>
    <p:restoredTop sz="92626"/>
  </p:normalViewPr>
  <p:slideViewPr>
    <p:cSldViewPr snapToGrid="0" snapToObjects="1">
      <p:cViewPr varScale="1">
        <p:scale>
          <a:sx n="125" d="100"/>
          <a:sy n="125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24299-27C1-354C-AEC0-5AEFAB0CF128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DAD2C10-0510-D04A-85DB-FD651F9D0147}">
      <dgm:prSet phldrT="[文本]" custT="1"/>
      <dgm:spPr/>
      <dgm:t>
        <a:bodyPr/>
        <a:lstStyle/>
        <a:p>
          <a:r>
            <a:rPr lang="en-US" altLang="zh-CN" sz="2000" b="1" dirty="0"/>
            <a:t>MAFB</a:t>
          </a:r>
          <a:endParaRPr lang="zh-CN" altLang="en-US" sz="2800" b="1" dirty="0"/>
        </a:p>
      </dgm:t>
    </dgm:pt>
    <dgm:pt modelId="{F11A687C-797A-F14C-8E3F-39CA3ECE2098}" type="parTrans" cxnId="{9CE16CF9-B0E8-BA4B-A55E-25E2D1B6E235}">
      <dgm:prSet/>
      <dgm:spPr/>
      <dgm:t>
        <a:bodyPr/>
        <a:lstStyle/>
        <a:p>
          <a:endParaRPr lang="zh-CN" altLang="en-US"/>
        </a:p>
      </dgm:t>
    </dgm:pt>
    <dgm:pt modelId="{5FCBC388-B396-AC45-9685-60225EB7E2A6}" type="sibTrans" cxnId="{9CE16CF9-B0E8-BA4B-A55E-25E2D1B6E235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3B462249-8146-A742-AADA-56E93450D86E}">
      <dgm:prSet phldrT="[文本]" custT="1"/>
      <dgm:spPr/>
      <dgm:t>
        <a:bodyPr/>
        <a:lstStyle/>
        <a:p>
          <a:r>
            <a:rPr lang="en-US" altLang="zh-CN" sz="2000" b="1" dirty="0"/>
            <a:t>Bidirectional</a:t>
          </a:r>
          <a:r>
            <a:rPr lang="zh-CN" altLang="en-US" sz="2000" b="1" dirty="0"/>
            <a:t> </a:t>
          </a:r>
          <a:r>
            <a:rPr lang="en-US" altLang="zh-CN" sz="2000" b="1" dirty="0"/>
            <a:t>Replay</a:t>
          </a:r>
          <a:endParaRPr lang="zh-CN" altLang="en-US" sz="2000" b="1" dirty="0"/>
        </a:p>
      </dgm:t>
    </dgm:pt>
    <dgm:pt modelId="{290F0822-BBC4-8446-8716-4554D6431C4C}" type="parTrans" cxnId="{6787FCD2-FAF3-4C40-963D-A874C7E98734}">
      <dgm:prSet/>
      <dgm:spPr/>
      <dgm:t>
        <a:bodyPr/>
        <a:lstStyle/>
        <a:p>
          <a:endParaRPr lang="zh-CN" altLang="en-US"/>
        </a:p>
      </dgm:t>
    </dgm:pt>
    <dgm:pt modelId="{27E66B20-0DBE-9D49-82F1-A43541C1FDF9}" type="sibTrans" cxnId="{6787FCD2-FAF3-4C40-963D-A874C7E98734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3FEE621A-E715-FD44-B683-6B7B17618EF7}">
      <dgm:prSet phldrT="[文本]" custT="1"/>
      <dgm:spPr/>
      <dgm:t>
        <a:bodyPr/>
        <a:lstStyle/>
        <a:p>
          <a:pPr>
            <a:buNone/>
          </a:pPr>
          <a:r>
            <a:rPr lang="en-US" sz="2000" b="1" dirty="0"/>
            <a:t>FBTI</a:t>
          </a:r>
          <a:endParaRPr lang="zh-CN" altLang="en-US" sz="2800" dirty="0"/>
        </a:p>
      </dgm:t>
    </dgm:pt>
    <dgm:pt modelId="{BEC44A03-D43B-BB43-8FCA-9672F3795426}" type="parTrans" cxnId="{D1BFF813-1050-B94E-B851-CB5BB1FEAEC4}">
      <dgm:prSet/>
      <dgm:spPr/>
      <dgm:t>
        <a:bodyPr/>
        <a:lstStyle/>
        <a:p>
          <a:endParaRPr lang="zh-CN" altLang="en-US"/>
        </a:p>
      </dgm:t>
    </dgm:pt>
    <dgm:pt modelId="{435E3EA6-1FBB-8D4F-8645-985DDA27767B}" type="sibTrans" cxnId="{D1BFF813-1050-B94E-B851-CB5BB1FEAEC4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445E6A8C-2BCE-A542-A67A-2E5CF50F65A0}" type="pres">
      <dgm:prSet presAssocID="{15424299-27C1-354C-AEC0-5AEFAB0CF128}" presName="cycle" presStyleCnt="0">
        <dgm:presLayoutVars>
          <dgm:dir/>
          <dgm:resizeHandles val="exact"/>
        </dgm:presLayoutVars>
      </dgm:prSet>
      <dgm:spPr/>
    </dgm:pt>
    <dgm:pt modelId="{E78C3188-577C-C949-98A8-0CD5300F8827}" type="pres">
      <dgm:prSet presAssocID="{7DAD2C10-0510-D04A-85DB-FD651F9D0147}" presName="dummy" presStyleCnt="0"/>
      <dgm:spPr/>
    </dgm:pt>
    <dgm:pt modelId="{6E2CD0F5-994A-9349-B2CC-76CF5BFAA178}" type="pres">
      <dgm:prSet presAssocID="{7DAD2C10-0510-D04A-85DB-FD651F9D0147}" presName="node" presStyleLbl="revTx" presStyleIdx="0" presStyleCnt="3">
        <dgm:presLayoutVars>
          <dgm:bulletEnabled val="1"/>
        </dgm:presLayoutVars>
      </dgm:prSet>
      <dgm:spPr/>
    </dgm:pt>
    <dgm:pt modelId="{DB30ADE8-E1D5-B449-B8B9-C348A1F3C4ED}" type="pres">
      <dgm:prSet presAssocID="{5FCBC388-B396-AC45-9685-60225EB7E2A6}" presName="sibTrans" presStyleLbl="node1" presStyleIdx="0" presStyleCnt="3"/>
      <dgm:spPr/>
    </dgm:pt>
    <dgm:pt modelId="{5B1E370A-D0D9-8040-B151-AD792088E774}" type="pres">
      <dgm:prSet presAssocID="{3B462249-8146-A742-AADA-56E93450D86E}" presName="dummy" presStyleCnt="0"/>
      <dgm:spPr/>
    </dgm:pt>
    <dgm:pt modelId="{BEDF9C23-7807-4540-9A7B-3D422C4EE623}" type="pres">
      <dgm:prSet presAssocID="{3B462249-8146-A742-AADA-56E93450D86E}" presName="node" presStyleLbl="revTx" presStyleIdx="1" presStyleCnt="3" custScaleX="130384" custRadScaleRad="141156" custRadScaleInc="1567">
        <dgm:presLayoutVars>
          <dgm:bulletEnabled val="1"/>
        </dgm:presLayoutVars>
      </dgm:prSet>
      <dgm:spPr/>
    </dgm:pt>
    <dgm:pt modelId="{346B135F-5EA2-B64F-8827-CA990ED0CDFE}" type="pres">
      <dgm:prSet presAssocID="{27E66B20-0DBE-9D49-82F1-A43541C1FDF9}" presName="sibTrans" presStyleLbl="node1" presStyleIdx="1" presStyleCnt="3"/>
      <dgm:spPr/>
    </dgm:pt>
    <dgm:pt modelId="{136E88B7-F08B-2249-9750-517415450D1D}" type="pres">
      <dgm:prSet presAssocID="{3FEE621A-E715-FD44-B683-6B7B17618EF7}" presName="dummy" presStyleCnt="0"/>
      <dgm:spPr/>
    </dgm:pt>
    <dgm:pt modelId="{7E834778-B688-0942-A9B5-2344BAABD44A}" type="pres">
      <dgm:prSet presAssocID="{3FEE621A-E715-FD44-B683-6B7B17618EF7}" presName="node" presStyleLbl="revTx" presStyleIdx="2" presStyleCnt="3">
        <dgm:presLayoutVars>
          <dgm:bulletEnabled val="1"/>
        </dgm:presLayoutVars>
      </dgm:prSet>
      <dgm:spPr/>
    </dgm:pt>
    <dgm:pt modelId="{DAAAA8DD-930F-AF42-B67B-EADBD78FBC5A}" type="pres">
      <dgm:prSet presAssocID="{435E3EA6-1FBB-8D4F-8645-985DDA27767B}" presName="sibTrans" presStyleLbl="node1" presStyleIdx="2" presStyleCnt="3"/>
      <dgm:spPr/>
    </dgm:pt>
  </dgm:ptLst>
  <dgm:cxnLst>
    <dgm:cxn modelId="{69BBF910-5BEF-D54C-B9E5-BE71F9E3DC07}" type="presOf" srcId="{3FEE621A-E715-FD44-B683-6B7B17618EF7}" destId="{7E834778-B688-0942-A9B5-2344BAABD44A}" srcOrd="0" destOrd="0" presId="urn:microsoft.com/office/officeart/2005/8/layout/cycle1"/>
    <dgm:cxn modelId="{D1BFF813-1050-B94E-B851-CB5BB1FEAEC4}" srcId="{15424299-27C1-354C-AEC0-5AEFAB0CF128}" destId="{3FEE621A-E715-FD44-B683-6B7B17618EF7}" srcOrd="2" destOrd="0" parTransId="{BEC44A03-D43B-BB43-8FCA-9672F3795426}" sibTransId="{435E3EA6-1FBB-8D4F-8645-985DDA27767B}"/>
    <dgm:cxn modelId="{8A0A7139-FF52-004F-A5C1-EBA7635331C4}" type="presOf" srcId="{3B462249-8146-A742-AADA-56E93450D86E}" destId="{BEDF9C23-7807-4540-9A7B-3D422C4EE623}" srcOrd="0" destOrd="0" presId="urn:microsoft.com/office/officeart/2005/8/layout/cycle1"/>
    <dgm:cxn modelId="{CED73347-CD72-824C-91C3-ED021E8DF8B4}" type="presOf" srcId="{5FCBC388-B396-AC45-9685-60225EB7E2A6}" destId="{DB30ADE8-E1D5-B449-B8B9-C348A1F3C4ED}" srcOrd="0" destOrd="0" presId="urn:microsoft.com/office/officeart/2005/8/layout/cycle1"/>
    <dgm:cxn modelId="{24E57090-C63E-6641-84FA-EDBC58EE6630}" type="presOf" srcId="{435E3EA6-1FBB-8D4F-8645-985DDA27767B}" destId="{DAAAA8DD-930F-AF42-B67B-EADBD78FBC5A}" srcOrd="0" destOrd="0" presId="urn:microsoft.com/office/officeart/2005/8/layout/cycle1"/>
    <dgm:cxn modelId="{D4421A9D-29D4-7E48-971D-0FD565BDDF2D}" type="presOf" srcId="{7DAD2C10-0510-D04A-85DB-FD651F9D0147}" destId="{6E2CD0F5-994A-9349-B2CC-76CF5BFAA178}" srcOrd="0" destOrd="0" presId="urn:microsoft.com/office/officeart/2005/8/layout/cycle1"/>
    <dgm:cxn modelId="{5CE77BD0-7022-3848-8F58-6F3B84A3A0FA}" type="presOf" srcId="{15424299-27C1-354C-AEC0-5AEFAB0CF128}" destId="{445E6A8C-2BCE-A542-A67A-2E5CF50F65A0}" srcOrd="0" destOrd="0" presId="urn:microsoft.com/office/officeart/2005/8/layout/cycle1"/>
    <dgm:cxn modelId="{6787FCD2-FAF3-4C40-963D-A874C7E98734}" srcId="{15424299-27C1-354C-AEC0-5AEFAB0CF128}" destId="{3B462249-8146-A742-AADA-56E93450D86E}" srcOrd="1" destOrd="0" parTransId="{290F0822-BBC4-8446-8716-4554D6431C4C}" sibTransId="{27E66B20-0DBE-9D49-82F1-A43541C1FDF9}"/>
    <dgm:cxn modelId="{24621FDB-FC5B-254E-A085-EE390576041D}" type="presOf" srcId="{27E66B20-0DBE-9D49-82F1-A43541C1FDF9}" destId="{346B135F-5EA2-B64F-8827-CA990ED0CDFE}" srcOrd="0" destOrd="0" presId="urn:microsoft.com/office/officeart/2005/8/layout/cycle1"/>
    <dgm:cxn modelId="{9CE16CF9-B0E8-BA4B-A55E-25E2D1B6E235}" srcId="{15424299-27C1-354C-AEC0-5AEFAB0CF128}" destId="{7DAD2C10-0510-D04A-85DB-FD651F9D0147}" srcOrd="0" destOrd="0" parTransId="{F11A687C-797A-F14C-8E3F-39CA3ECE2098}" sibTransId="{5FCBC388-B396-AC45-9685-60225EB7E2A6}"/>
    <dgm:cxn modelId="{E79E2CFA-6021-2249-AD48-7665F88A57DD}" type="presParOf" srcId="{445E6A8C-2BCE-A542-A67A-2E5CF50F65A0}" destId="{E78C3188-577C-C949-98A8-0CD5300F8827}" srcOrd="0" destOrd="0" presId="urn:microsoft.com/office/officeart/2005/8/layout/cycle1"/>
    <dgm:cxn modelId="{BD24D555-976C-5546-BE7A-DB2DCC85E0AF}" type="presParOf" srcId="{445E6A8C-2BCE-A542-A67A-2E5CF50F65A0}" destId="{6E2CD0F5-994A-9349-B2CC-76CF5BFAA178}" srcOrd="1" destOrd="0" presId="urn:microsoft.com/office/officeart/2005/8/layout/cycle1"/>
    <dgm:cxn modelId="{33C496E5-3E9A-C54B-AECB-798FA35C1566}" type="presParOf" srcId="{445E6A8C-2BCE-A542-A67A-2E5CF50F65A0}" destId="{DB30ADE8-E1D5-B449-B8B9-C348A1F3C4ED}" srcOrd="2" destOrd="0" presId="urn:microsoft.com/office/officeart/2005/8/layout/cycle1"/>
    <dgm:cxn modelId="{DCD78E58-8674-D242-9875-36B832C5A2FF}" type="presParOf" srcId="{445E6A8C-2BCE-A542-A67A-2E5CF50F65A0}" destId="{5B1E370A-D0D9-8040-B151-AD792088E774}" srcOrd="3" destOrd="0" presId="urn:microsoft.com/office/officeart/2005/8/layout/cycle1"/>
    <dgm:cxn modelId="{442CC3CF-EA16-4245-B2C2-9FCA34FA6C10}" type="presParOf" srcId="{445E6A8C-2BCE-A542-A67A-2E5CF50F65A0}" destId="{BEDF9C23-7807-4540-9A7B-3D422C4EE623}" srcOrd="4" destOrd="0" presId="urn:microsoft.com/office/officeart/2005/8/layout/cycle1"/>
    <dgm:cxn modelId="{AAB90D13-CC07-A943-83CD-50EB98C05EE2}" type="presParOf" srcId="{445E6A8C-2BCE-A542-A67A-2E5CF50F65A0}" destId="{346B135F-5EA2-B64F-8827-CA990ED0CDFE}" srcOrd="5" destOrd="0" presId="urn:microsoft.com/office/officeart/2005/8/layout/cycle1"/>
    <dgm:cxn modelId="{F5117465-C741-214B-B084-9EB741ABFEF0}" type="presParOf" srcId="{445E6A8C-2BCE-A542-A67A-2E5CF50F65A0}" destId="{136E88B7-F08B-2249-9750-517415450D1D}" srcOrd="6" destOrd="0" presId="urn:microsoft.com/office/officeart/2005/8/layout/cycle1"/>
    <dgm:cxn modelId="{8CAE02B4-BA3A-DE45-B3DD-4695C264562D}" type="presParOf" srcId="{445E6A8C-2BCE-A542-A67A-2E5CF50F65A0}" destId="{7E834778-B688-0942-A9B5-2344BAABD44A}" srcOrd="7" destOrd="0" presId="urn:microsoft.com/office/officeart/2005/8/layout/cycle1"/>
    <dgm:cxn modelId="{6D2D0A98-FCD6-6D4E-95C7-429847B0599F}" type="presParOf" srcId="{445E6A8C-2BCE-A542-A67A-2E5CF50F65A0}" destId="{DAAAA8DD-930F-AF42-B67B-EADBD78FBC5A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CD0F5-994A-9349-B2CC-76CF5BFAA178}">
      <dsp:nvSpPr>
        <dsp:cNvPr id="0" name=""/>
        <dsp:cNvSpPr/>
      </dsp:nvSpPr>
      <dsp:spPr>
        <a:xfrm>
          <a:off x="3508881" y="294574"/>
          <a:ext cx="1498041" cy="1498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MAFB</a:t>
          </a:r>
          <a:endParaRPr lang="zh-CN" altLang="en-US" sz="2800" b="1" kern="1200" dirty="0"/>
        </a:p>
      </dsp:txBody>
      <dsp:txXfrm>
        <a:off x="3508881" y="294574"/>
        <a:ext cx="1498041" cy="1498041"/>
      </dsp:txXfrm>
    </dsp:sp>
    <dsp:sp modelId="{DB30ADE8-E1D5-B449-B8B9-C348A1F3C4ED}">
      <dsp:nvSpPr>
        <dsp:cNvPr id="0" name=""/>
        <dsp:cNvSpPr/>
      </dsp:nvSpPr>
      <dsp:spPr>
        <a:xfrm>
          <a:off x="1222585" y="-483"/>
          <a:ext cx="3546969" cy="3546969"/>
        </a:xfrm>
        <a:prstGeom prst="circularArrow">
          <a:avLst>
            <a:gd name="adj1" fmla="val 8236"/>
            <a:gd name="adj2" fmla="val 575031"/>
            <a:gd name="adj3" fmla="val 2370521"/>
            <a:gd name="adj4" fmla="val 46280"/>
            <a:gd name="adj5" fmla="val 9608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F9C23-7807-4540-9A7B-3D422C4EE623}">
      <dsp:nvSpPr>
        <dsp:cNvPr id="0" name=""/>
        <dsp:cNvSpPr/>
      </dsp:nvSpPr>
      <dsp:spPr>
        <a:xfrm>
          <a:off x="1996980" y="2480603"/>
          <a:ext cx="1953206" cy="1498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Bidirectional</a:t>
          </a:r>
          <a:r>
            <a:rPr lang="zh-CN" altLang="en-US" sz="2000" b="1" kern="1200" dirty="0"/>
            <a:t> </a:t>
          </a:r>
          <a:r>
            <a:rPr lang="en-US" altLang="zh-CN" sz="2000" b="1" kern="1200" dirty="0"/>
            <a:t>Replay</a:t>
          </a:r>
          <a:endParaRPr lang="zh-CN" altLang="en-US" sz="2000" b="1" kern="1200" dirty="0"/>
        </a:p>
      </dsp:txBody>
      <dsp:txXfrm>
        <a:off x="1996980" y="2480603"/>
        <a:ext cx="1953206" cy="1498041"/>
      </dsp:txXfrm>
    </dsp:sp>
    <dsp:sp modelId="{346B135F-5EA2-B64F-8827-CA990ED0CDFE}">
      <dsp:nvSpPr>
        <dsp:cNvPr id="0" name=""/>
        <dsp:cNvSpPr/>
      </dsp:nvSpPr>
      <dsp:spPr>
        <a:xfrm>
          <a:off x="1222610" y="-448"/>
          <a:ext cx="3546969" cy="3546969"/>
        </a:xfrm>
        <a:prstGeom prst="circularArrow">
          <a:avLst>
            <a:gd name="adj1" fmla="val 8236"/>
            <a:gd name="adj2" fmla="val 575031"/>
            <a:gd name="adj3" fmla="val 10178772"/>
            <a:gd name="adj4" fmla="val 7997551"/>
            <a:gd name="adj5" fmla="val 9608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34778-B688-0942-A9B5-2344BAABD44A}">
      <dsp:nvSpPr>
        <dsp:cNvPr id="0" name=""/>
        <dsp:cNvSpPr/>
      </dsp:nvSpPr>
      <dsp:spPr>
        <a:xfrm>
          <a:off x="985242" y="294574"/>
          <a:ext cx="1498041" cy="1498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FBTI</a:t>
          </a:r>
          <a:endParaRPr lang="zh-CN" altLang="en-US" sz="2800" kern="1200" dirty="0"/>
        </a:p>
      </dsp:txBody>
      <dsp:txXfrm>
        <a:off x="985242" y="294574"/>
        <a:ext cx="1498041" cy="1498041"/>
      </dsp:txXfrm>
    </dsp:sp>
    <dsp:sp modelId="{DAAAA8DD-930F-AF42-B67B-EADBD78FBC5A}">
      <dsp:nvSpPr>
        <dsp:cNvPr id="0" name=""/>
        <dsp:cNvSpPr/>
      </dsp:nvSpPr>
      <dsp:spPr>
        <a:xfrm>
          <a:off x="1222597" y="-1378"/>
          <a:ext cx="3546969" cy="3546969"/>
        </a:xfrm>
        <a:prstGeom prst="circularArrow">
          <a:avLst>
            <a:gd name="adj1" fmla="val 8236"/>
            <a:gd name="adj2" fmla="val 575031"/>
            <a:gd name="adj3" fmla="val 16861365"/>
            <a:gd name="adj4" fmla="val 14963604"/>
            <a:gd name="adj5" fmla="val 9608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0489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CE578-0A0E-294D-ABB1-316BD154CC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95" name="Title 1"/>
          <p:cNvSpPr txBox="1">
            <a:spLocks noGrp="1"/>
          </p:cNvSpPr>
          <p:nvPr>
            <p:ph type="title"/>
          </p:nvPr>
        </p:nvSpPr>
        <p:spPr>
          <a:xfrm>
            <a:off x="152399" y="113376"/>
            <a:ext cx="11572878" cy="1549017"/>
          </a:xfrm>
          <a:prstGeom prst="rect">
            <a:avLst/>
          </a:prstGeom>
        </p:spPr>
        <p:txBody>
          <a:bodyPr/>
          <a:lstStyle/>
          <a:p>
            <a:pPr>
              <a:defRPr sz="4200">
                <a:solidFill>
                  <a:schemeClr val="accent1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中銀香港創新先驅大賽20</a:t>
            </a:r>
            <a:r>
              <a:rPr lang="en-US" altLang="zh-CN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26</a:t>
            </a: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計劃書</a:t>
            </a:r>
            <a:b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BOCHK Challenge 202</a:t>
            </a:r>
            <a:r>
              <a:rPr lang="en-US" altLang="zh-TW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</a:t>
            </a:r>
            <a:r>
              <a:rPr lang="en-US" altLang="zh-CN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Proposal</a:t>
            </a:r>
          </a:p>
        </p:txBody>
      </p:sp>
      <p:sp>
        <p:nvSpPr>
          <p:cNvPr id="96" name="Subtitle 2"/>
          <p:cNvSpPr txBox="1"/>
          <p:nvPr/>
        </p:nvSpPr>
        <p:spPr>
          <a:xfrm>
            <a:off x="152399" y="1606577"/>
            <a:ext cx="2251711" cy="1004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 err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隊伍名稱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Team Name</a:t>
            </a:r>
          </a:p>
        </p:txBody>
      </p:sp>
      <p:grpSp>
        <p:nvGrpSpPr>
          <p:cNvPr id="99" name="Rectangle: Rounded Corners 9"/>
          <p:cNvGrpSpPr/>
          <p:nvPr/>
        </p:nvGrpSpPr>
        <p:grpSpPr>
          <a:xfrm>
            <a:off x="2336950" y="1606577"/>
            <a:ext cx="3483747" cy="908332"/>
            <a:chOff x="0" y="0"/>
            <a:chExt cx="4183735" cy="908330"/>
          </a:xfrm>
        </p:grpSpPr>
        <p:sp>
          <p:nvSpPr>
            <p:cNvPr id="97" name="Rounded Rectangle"/>
            <p:cNvSpPr/>
            <p:nvPr/>
          </p:nvSpPr>
          <p:spPr>
            <a:xfrm>
              <a:off x="0" y="0"/>
              <a:ext cx="4183736" cy="9083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8" name="請輸入您的隊伍名稱…"/>
            <p:cNvSpPr txBox="1"/>
            <p:nvPr/>
          </p:nvSpPr>
          <p:spPr>
            <a:xfrm>
              <a:off x="90897" y="148962"/>
              <a:ext cx="4001941" cy="61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lang="en-US" altLang="zh-CN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FINANO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00" name="Subtitle 2"/>
          <p:cNvSpPr txBox="1"/>
          <p:nvPr/>
        </p:nvSpPr>
        <p:spPr>
          <a:xfrm>
            <a:off x="152399" y="2734719"/>
            <a:ext cx="2251711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 err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隊員名稱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Team Members</a:t>
            </a:r>
            <a:r>
              <a:rPr lang="en-US" altLang="zh-TW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'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Name</a:t>
            </a: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03" name="Rectangle: Rounded Corners 12"/>
          <p:cNvGrpSpPr/>
          <p:nvPr/>
        </p:nvGrpSpPr>
        <p:grpSpPr>
          <a:xfrm>
            <a:off x="2336950" y="2753769"/>
            <a:ext cx="3483747" cy="3912502"/>
            <a:chOff x="0" y="0"/>
            <a:chExt cx="4196084" cy="2670176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4196084" cy="2670176"/>
            </a:xfrm>
            <a:prstGeom prst="roundRect">
              <a:avLst>
                <a:gd name="adj" fmla="val 7130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2" name="組長:…"/>
            <p:cNvSpPr txBox="1"/>
            <p:nvPr/>
          </p:nvSpPr>
          <p:spPr>
            <a:xfrm>
              <a:off x="202961" y="88592"/>
              <a:ext cx="3993123" cy="1407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t>Team Leader: Pu Tianyi (HKUST)</a:t>
              </a:r>
              <a:br/>
              <a:r>
                <a:t>Wang Xinyi | Wang Zhenghao | Zhu Yijin</a:t>
              </a:r>
              <a:br/>
              <a:r>
                <a:t>組長：浦天禕（香港科技大學）</a:t>
              </a:r>
              <a:br/>
              <a:r>
                <a:t>隊員：王心怡、王正昊、朱藝瑾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209A8DBE-1699-4BB9-9C21-2396B82801C3}"/>
              </a:ext>
            </a:extLst>
          </p:cNvPr>
          <p:cNvSpPr txBox="1"/>
          <p:nvPr/>
        </p:nvSpPr>
        <p:spPr>
          <a:xfrm>
            <a:off x="6138390" y="2734719"/>
            <a:ext cx="1960265" cy="1864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方案簡介</a:t>
            </a:r>
            <a:endParaRPr lang="en-US" altLang="zh-CN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100</a:t>
            </a: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字）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Proposal Summary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altLang="zh-TW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(100 words)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A559F610-B688-4BC9-92D4-005EA9F347BA}"/>
              </a:ext>
            </a:extLst>
          </p:cNvPr>
          <p:cNvSpPr/>
          <p:nvPr/>
        </p:nvSpPr>
        <p:spPr>
          <a:xfrm>
            <a:off x="8224993" y="2734719"/>
            <a:ext cx="3483747" cy="3931551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 w="12700" cap="flat">
            <a:solidFill>
              <a:srgbClr val="D0CEC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FINANO is a Generative AI multi-agent engine for fund suitability in Hong Kong banks. It layers behavioural profiling (FBTI) and MAFB parallel analysis with compliance logging on top of KYC—helping BOCHK reduce mis-selling and document every recommendation. Tech: GenAI + Big Data | Scenarios: Risk Management &amp; Inclusive Finance.</a:t>
            </a:r>
            <a:br/>
            <a:br/>
            <a:r>
              <a:t>FINANO 係面向香港銀行嘅生成式 AI 多智能體引擎，喺 KYC 之上加入投資行為畫像（FBTI）同 MAFB 並行分析，自動記錄合規理據，助中銀香港提升基金適當性、減低違規銷售風險。科技：生成式 AI、大數據；場景：風控、普惠金融。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D889550-26F2-4A52-A4C9-4157270A8EE7}"/>
              </a:ext>
            </a:extLst>
          </p:cNvPr>
          <p:cNvSpPr txBox="1"/>
          <p:nvPr/>
        </p:nvSpPr>
        <p:spPr>
          <a:xfrm>
            <a:off x="6168927" y="1606577"/>
            <a:ext cx="2251711" cy="1004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參賽組別</a:t>
            </a:r>
            <a:endParaRPr lang="en-US" altLang="zh-CN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Contestant Category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7" name="Rectangle: Rounded Corners 9">
            <a:extLst>
              <a:ext uri="{FF2B5EF4-FFF2-40B4-BE49-F238E27FC236}">
                <a16:creationId xmlns:a16="http://schemas.microsoft.com/office/drawing/2014/main" id="{3FE149E5-DBD3-4F4F-BF6E-C6BB0A704732}"/>
              </a:ext>
            </a:extLst>
          </p:cNvPr>
          <p:cNvGrpSpPr/>
          <p:nvPr/>
        </p:nvGrpSpPr>
        <p:grpSpPr>
          <a:xfrm>
            <a:off x="8224993" y="1606577"/>
            <a:ext cx="3553419" cy="908332"/>
            <a:chOff x="0" y="0"/>
            <a:chExt cx="4183735" cy="908330"/>
          </a:xfrm>
        </p:grpSpPr>
        <p:sp>
          <p:nvSpPr>
            <p:cNvPr id="18" name="Rounded Rectangle">
              <a:extLst>
                <a:ext uri="{FF2B5EF4-FFF2-40B4-BE49-F238E27FC236}">
                  <a16:creationId xmlns:a16="http://schemas.microsoft.com/office/drawing/2014/main" id="{196B7031-5516-413C-B8EF-CBA1DE4EDFB3}"/>
                </a:ext>
              </a:extLst>
            </p:cNvPr>
            <p:cNvSpPr/>
            <p:nvPr/>
          </p:nvSpPr>
          <p:spPr>
            <a:xfrm>
              <a:off x="0" y="0"/>
              <a:ext cx="4183736" cy="9083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9" name="請輸入您的隊伍名稱…">
              <a:extLst>
                <a:ext uri="{FF2B5EF4-FFF2-40B4-BE49-F238E27FC236}">
                  <a16:creationId xmlns:a16="http://schemas.microsoft.com/office/drawing/2014/main" id="{B7D886BE-120B-43AF-91EC-C209C4B54EA0}"/>
                </a:ext>
              </a:extLst>
            </p:cNvPr>
            <p:cNvSpPr txBox="1"/>
            <p:nvPr/>
          </p:nvSpPr>
          <p:spPr>
            <a:xfrm>
              <a:off x="90897" y="148962"/>
              <a:ext cx="4001941" cy="61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lang="zh-CN" alt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學生組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lang="en-US" altLang="zh-CN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Student Stream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HK】學生組｜隊伍 FINANO｜方案聚焦：生成式 AI 多智能體、基金適當性、合規留痕。</a:t>
            </a:r>
            <a:br/>
            <a:r>
              <a:t>【粵語口播】各位評審好，我哋係 FINANO。我哋做嘅唔係另一個 chatbot，而係幫銀行喺 KYC 以外，睇清客戶真實投資行為，同時自動記低每個基金建議嘅原因。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279E1F-F6F9-4F66-A0EE-713B7A83F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F26A1-A67A-42AA-955E-96316CDE6B80}"/>
              </a:ext>
            </a:extLst>
          </p:cNvPr>
          <p:cNvSpPr/>
          <p:nvPr/>
        </p:nvSpPr>
        <p:spPr>
          <a:xfrm>
            <a:off x="1683657" y="0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DBD9EA0-80E5-4F81-82E8-D7C746BD08E8}"/>
              </a:ext>
            </a:extLst>
          </p:cNvPr>
          <p:cNvGrpSpPr/>
          <p:nvPr/>
        </p:nvGrpSpPr>
        <p:grpSpPr>
          <a:xfrm>
            <a:off x="1835620" y="4122731"/>
            <a:ext cx="10170302" cy="2604084"/>
            <a:chOff x="1835620" y="4122731"/>
            <a:chExt cx="10170302" cy="260408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712F063-E355-44C1-9DC4-319C56CA754E}"/>
                </a:ext>
              </a:extLst>
            </p:cNvPr>
            <p:cNvSpPr/>
            <p:nvPr/>
          </p:nvSpPr>
          <p:spPr>
            <a:xfrm>
              <a:off x="1835620" y="4122731"/>
              <a:ext cx="10170302" cy="2604084"/>
            </a:xfrm>
            <a:prstGeom prst="rect">
              <a:avLst/>
            </a:prstGeom>
            <a:solidFill>
              <a:srgbClr val="E9BF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D8E150-7CF0-489D-BA81-322ED8A2C4BC}"/>
                </a:ext>
              </a:extLst>
            </p:cNvPr>
            <p:cNvSpPr/>
            <p:nvPr/>
          </p:nvSpPr>
          <p:spPr>
            <a:xfrm>
              <a:off x="1835620" y="4334639"/>
              <a:ext cx="620714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其他應用</a:t>
              </a:r>
              <a:r>
                <a:rPr lang="en-US" altLang="zh-TW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科技</a:t>
              </a:r>
              <a:r>
                <a:rPr lang="en-US" altLang="zh-TW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 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(</a:t>
              </a:r>
              <a:r>
                <a:rPr lang="zh-TW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請在此列出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，例如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VR/AR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)</a:t>
              </a:r>
            </a:p>
            <a:p>
              <a:r>
                <a:rPr lang="en-US" altLang="zh-TW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Other application technologies 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(Please list below, E.g. VR/AR</a:t>
              </a:r>
              <a:r>
                <a: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)</a:t>
              </a:r>
              <a:endParaRPr lang="zh-TW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3BD04B-70C1-4212-929D-37D945891AAB}"/>
              </a:ext>
            </a:extLst>
          </p:cNvPr>
          <p:cNvGrpSpPr/>
          <p:nvPr/>
        </p:nvGrpSpPr>
        <p:grpSpPr>
          <a:xfrm>
            <a:off x="1835620" y="509951"/>
            <a:ext cx="8206554" cy="1534459"/>
            <a:chOff x="1835620" y="332399"/>
            <a:chExt cx="8206554" cy="1534459"/>
          </a:xfrm>
        </p:grpSpPr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1B26D309-AF34-425E-A7CB-BFF4EB9CC853}"/>
                </a:ext>
              </a:extLst>
            </p:cNvPr>
            <p:cNvSpPr/>
            <p:nvPr/>
          </p:nvSpPr>
          <p:spPr>
            <a:xfrm>
              <a:off x="1835620" y="332399"/>
              <a:ext cx="69813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TW" altLang="zh-TW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比賽主題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：</a:t>
              </a:r>
              <a:r>
                <a:rPr lang="zh-CN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科技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（至少選其一）</a:t>
              </a:r>
              <a:endParaRPr lang="en-US" altLang="zh-TW" sz="1200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  <a:p>
              <a:pPr lvl="0" algn="just"/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Theme</a:t>
              </a:r>
              <a:r>
                <a:rPr lang="zh-TW" altLang="en-US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：</a:t>
              </a:r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Technology (Choose at least one)</a:t>
              </a:r>
              <a:endParaRPr lang="zh-TW" altLang="zh-TW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82F8DD2-ACED-48F6-9961-FCA184FF17C4}"/>
                </a:ext>
              </a:extLst>
            </p:cNvPr>
            <p:cNvGrpSpPr/>
            <p:nvPr/>
          </p:nvGrpSpPr>
          <p:grpSpPr>
            <a:xfrm>
              <a:off x="1835620" y="962188"/>
              <a:ext cx="8206554" cy="904670"/>
              <a:chOff x="1880435" y="962188"/>
              <a:chExt cx="8206554" cy="90467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0637F89-D4E8-4F98-AFE3-8A72F5CA8357}"/>
                  </a:ext>
                </a:extLst>
              </p:cNvPr>
              <p:cNvGrpSpPr/>
              <p:nvPr/>
            </p:nvGrpSpPr>
            <p:grpSpPr>
              <a:xfrm>
                <a:off x="1880435" y="974306"/>
                <a:ext cx="2457034" cy="892552"/>
                <a:chOff x="1880435" y="984909"/>
                <a:chExt cx="2457034" cy="892552"/>
              </a:xfrm>
            </p:grpSpPr>
            <p:sp>
              <p:nvSpPr>
                <p:cNvPr id="32" name="Rectangle 45">
                  <a:extLst>
                    <a:ext uri="{FF2B5EF4-FFF2-40B4-BE49-F238E27FC236}">
                      <a16:creationId xmlns:a16="http://schemas.microsoft.com/office/drawing/2014/main" id="{3D082A63-1C95-44AF-8717-421217D9B208}"/>
                    </a:ext>
                  </a:extLst>
                </p:cNvPr>
                <p:cNvSpPr/>
                <p:nvPr/>
              </p:nvSpPr>
              <p:spPr>
                <a:xfrm>
                  <a:off x="1880435" y="1068396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3" name="TextBox 44">
                  <a:extLst>
                    <a:ext uri="{FF2B5EF4-FFF2-40B4-BE49-F238E27FC236}">
                      <a16:creationId xmlns:a16="http://schemas.microsoft.com/office/drawing/2014/main" id="{08B5AF8B-3E60-4E1E-BBFF-F396ED79F3C0}"/>
                    </a:ext>
                  </a:extLst>
                </p:cNvPr>
                <p:cNvSpPr txBox="1"/>
                <p:nvPr/>
              </p:nvSpPr>
              <p:spPr>
                <a:xfrm>
                  <a:off x="2172353" y="984909"/>
                  <a:ext cx="2165116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生成式</a:t>
                  </a:r>
                  <a:r>
                    <a:rPr lang="en-US" altLang="zh-TW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AI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Generative </a:t>
                  </a: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A</a:t>
                  </a:r>
                  <a:r>
                    <a:rPr lang="en-US" altLang="zh-CN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rtificial Intelligence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088B7F9-B8AF-4075-ACCC-C3CA0F2FF0E5}"/>
                  </a:ext>
                </a:extLst>
              </p:cNvPr>
              <p:cNvGrpSpPr/>
              <p:nvPr/>
            </p:nvGrpSpPr>
            <p:grpSpPr>
              <a:xfrm>
                <a:off x="4511588" y="962188"/>
                <a:ext cx="2873389" cy="646331"/>
                <a:chOff x="4609977" y="986211"/>
                <a:chExt cx="2873389" cy="646331"/>
              </a:xfrm>
            </p:grpSpPr>
            <p:sp>
              <p:nvSpPr>
                <p:cNvPr id="30" name="Rectangle 45">
                  <a:extLst>
                    <a:ext uri="{FF2B5EF4-FFF2-40B4-BE49-F238E27FC236}">
                      <a16:creationId xmlns:a16="http://schemas.microsoft.com/office/drawing/2014/main" id="{13E6B50D-BEE4-40E6-A781-D9B5800548CC}"/>
                    </a:ext>
                  </a:extLst>
                </p:cNvPr>
                <p:cNvSpPr/>
                <p:nvPr/>
              </p:nvSpPr>
              <p:spPr>
                <a:xfrm>
                  <a:off x="4609977" y="104907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1" name="TextBox 44">
                  <a:extLst>
                    <a:ext uri="{FF2B5EF4-FFF2-40B4-BE49-F238E27FC236}">
                      <a16:creationId xmlns:a16="http://schemas.microsoft.com/office/drawing/2014/main" id="{118D801F-0B67-487B-82A9-B135C92F5E76}"/>
                    </a:ext>
                  </a:extLst>
                </p:cNvPr>
                <p:cNvSpPr txBox="1"/>
                <p:nvPr/>
              </p:nvSpPr>
              <p:spPr>
                <a:xfrm>
                  <a:off x="4901894" y="986211"/>
                  <a:ext cx="258147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區塊鏈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Blockchain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B044EF2-C1A5-4A63-A1E2-3A277342296F}"/>
                  </a:ext>
                </a:extLst>
              </p:cNvPr>
              <p:cNvGrpSpPr/>
              <p:nvPr/>
            </p:nvGrpSpPr>
            <p:grpSpPr>
              <a:xfrm>
                <a:off x="7017330" y="974306"/>
                <a:ext cx="3069659" cy="646331"/>
                <a:chOff x="4143941" y="998329"/>
                <a:chExt cx="3069659" cy="646331"/>
              </a:xfrm>
            </p:grpSpPr>
            <p:sp>
              <p:nvSpPr>
                <p:cNvPr id="28" name="Rectangle 45">
                  <a:extLst>
                    <a:ext uri="{FF2B5EF4-FFF2-40B4-BE49-F238E27FC236}">
                      <a16:creationId xmlns:a16="http://schemas.microsoft.com/office/drawing/2014/main" id="{CEE6BF54-4EC0-476D-AAA6-1969E3B85D28}"/>
                    </a:ext>
                  </a:extLst>
                </p:cNvPr>
                <p:cNvSpPr/>
                <p:nvPr/>
              </p:nvSpPr>
              <p:spPr>
                <a:xfrm>
                  <a:off x="4143941" y="1081816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9" name="TextBox 44">
                  <a:extLst>
                    <a:ext uri="{FF2B5EF4-FFF2-40B4-BE49-F238E27FC236}">
                      <a16:creationId xmlns:a16="http://schemas.microsoft.com/office/drawing/2014/main" id="{FE92D8B0-AFC6-4EFE-8FD4-CC48179B8F02}"/>
                    </a:ext>
                  </a:extLst>
                </p:cNvPr>
                <p:cNvSpPr txBox="1"/>
                <p:nvPr/>
              </p:nvSpPr>
              <p:spPr>
                <a:xfrm>
                  <a:off x="4435858" y="998329"/>
                  <a:ext cx="2777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大數據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Big Data</a:t>
                  </a:r>
                </a:p>
              </p:txBody>
            </p:sp>
          </p:grp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0BFBF95-E989-4F0C-B3A6-B0A2FE98EB21}"/>
              </a:ext>
            </a:extLst>
          </p:cNvPr>
          <p:cNvGrpSpPr/>
          <p:nvPr/>
        </p:nvGrpSpPr>
        <p:grpSpPr>
          <a:xfrm>
            <a:off x="1835620" y="2175810"/>
            <a:ext cx="10210477" cy="2027001"/>
            <a:chOff x="1835620" y="2228121"/>
            <a:chExt cx="10210477" cy="202700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1B3977-739E-4C4F-AF6B-476E34EBB35D}"/>
                </a:ext>
              </a:extLst>
            </p:cNvPr>
            <p:cNvSpPr/>
            <p:nvPr/>
          </p:nvSpPr>
          <p:spPr>
            <a:xfrm>
              <a:off x="1835620" y="2228121"/>
              <a:ext cx="69813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TW" altLang="zh-TW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比賽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場景</a:t>
              </a:r>
              <a:r>
                <a:rPr lang="zh-CN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：金融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（至少選其一）</a:t>
              </a:r>
              <a:endParaRPr lang="en-US" altLang="zh-TW" sz="1200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  <a:p>
              <a:pPr lvl="0" algn="just"/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Scenario: Finance (Choose at least one)</a:t>
              </a:r>
              <a:endParaRPr lang="zh-TW" altLang="zh-TW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B9357A7-2ED8-4E3A-9D47-551EEA37C176}"/>
                </a:ext>
              </a:extLst>
            </p:cNvPr>
            <p:cNvGrpSpPr/>
            <p:nvPr/>
          </p:nvGrpSpPr>
          <p:grpSpPr>
            <a:xfrm>
              <a:off x="1835620" y="3054793"/>
              <a:ext cx="10210477" cy="1200329"/>
              <a:chOff x="1880435" y="3054793"/>
              <a:chExt cx="10210477" cy="120032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479F52A-EEEB-42C1-B78C-024D6A10CD80}"/>
                  </a:ext>
                </a:extLst>
              </p:cNvPr>
              <p:cNvGrpSpPr/>
              <p:nvPr/>
            </p:nvGrpSpPr>
            <p:grpSpPr>
              <a:xfrm>
                <a:off x="1880435" y="3062312"/>
                <a:ext cx="2066728" cy="892552"/>
                <a:chOff x="1880435" y="1197974"/>
                <a:chExt cx="2066728" cy="892552"/>
              </a:xfrm>
            </p:grpSpPr>
            <p:sp>
              <p:nvSpPr>
                <p:cNvPr id="50" name="Rectangle 45">
                  <a:extLst>
                    <a:ext uri="{FF2B5EF4-FFF2-40B4-BE49-F238E27FC236}">
                      <a16:creationId xmlns:a16="http://schemas.microsoft.com/office/drawing/2014/main" id="{EBA3BB7A-AE36-4C89-805B-84EEDE2FC408}"/>
                    </a:ext>
                  </a:extLst>
                </p:cNvPr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51" name="TextBox 44">
                  <a:extLst>
                    <a:ext uri="{FF2B5EF4-FFF2-40B4-BE49-F238E27FC236}">
                      <a16:creationId xmlns:a16="http://schemas.microsoft.com/office/drawing/2014/main" id="{CCBA1C97-818A-4F63-B196-D0EA3E0A9B30}"/>
                    </a:ext>
                  </a:extLst>
                </p:cNvPr>
                <p:cNvSpPr txBox="1"/>
                <p:nvPr/>
              </p:nvSpPr>
              <p:spPr>
                <a:xfrm>
                  <a:off x="2172353" y="1197974"/>
                  <a:ext cx="177481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普惠金融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Inclusive Finance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C5C06AF-A6E2-4AAC-9673-DAE93411836E}"/>
                  </a:ext>
                </a:extLst>
              </p:cNvPr>
              <p:cNvGrpSpPr/>
              <p:nvPr/>
            </p:nvGrpSpPr>
            <p:grpSpPr>
              <a:xfrm>
                <a:off x="3987338" y="3062312"/>
                <a:ext cx="1774810" cy="646331"/>
                <a:chOff x="1880435" y="1197974"/>
                <a:chExt cx="1774810" cy="646331"/>
              </a:xfrm>
            </p:grpSpPr>
            <p:sp>
              <p:nvSpPr>
                <p:cNvPr id="48" name="Rectangle 45">
                  <a:extLst>
                    <a:ext uri="{FF2B5EF4-FFF2-40B4-BE49-F238E27FC236}">
                      <a16:creationId xmlns:a16="http://schemas.microsoft.com/office/drawing/2014/main" id="{6701B2E7-A950-4FC2-9CC7-BA4708872973}"/>
                    </a:ext>
                  </a:extLst>
                </p:cNvPr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9" name="TextBox 44">
                  <a:extLst>
                    <a:ext uri="{FF2B5EF4-FFF2-40B4-BE49-F238E27FC236}">
                      <a16:creationId xmlns:a16="http://schemas.microsoft.com/office/drawing/2014/main" id="{A61D9BE1-F055-4AE8-AFC7-7BC2B7EEC897}"/>
                    </a:ext>
                  </a:extLst>
                </p:cNvPr>
                <p:cNvSpPr txBox="1"/>
                <p:nvPr/>
              </p:nvSpPr>
              <p:spPr>
                <a:xfrm>
                  <a:off x="2172353" y="1197974"/>
                  <a:ext cx="148289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支付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Payment</a:t>
                  </a: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7D4A7689-4EA5-48B4-AE6D-50ED94FF6E3B}"/>
                  </a:ext>
                </a:extLst>
              </p:cNvPr>
              <p:cNvGrpSpPr/>
              <p:nvPr/>
            </p:nvGrpSpPr>
            <p:grpSpPr>
              <a:xfrm>
                <a:off x="5802323" y="3062312"/>
                <a:ext cx="2066728" cy="892552"/>
                <a:chOff x="1880435" y="1197974"/>
                <a:chExt cx="2066728" cy="892552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6B10796-E52B-4921-B70A-1AC7209C88C9}"/>
                    </a:ext>
                  </a:extLst>
                </p:cNvPr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7" name="TextBox 44">
                  <a:extLst>
                    <a:ext uri="{FF2B5EF4-FFF2-40B4-BE49-F238E27FC236}">
                      <a16:creationId xmlns:a16="http://schemas.microsoft.com/office/drawing/2014/main" id="{8C2DBE2B-F2E0-49BA-A2B4-791AEB78A2C8}"/>
                    </a:ext>
                  </a:extLst>
                </p:cNvPr>
                <p:cNvSpPr txBox="1"/>
                <p:nvPr/>
              </p:nvSpPr>
              <p:spPr>
                <a:xfrm>
                  <a:off x="2172353" y="1197974"/>
                  <a:ext cx="177481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風</a:t>
                  </a:r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控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Risk Management</a:t>
                  </a:r>
                  <a:endParaRPr lang="zh-TW" altLang="en-US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26806F3-8D32-4DC1-BB26-E288B3CB3040}"/>
                  </a:ext>
                </a:extLst>
              </p:cNvPr>
              <p:cNvGrpSpPr/>
              <p:nvPr/>
            </p:nvGrpSpPr>
            <p:grpSpPr>
              <a:xfrm>
                <a:off x="7577133" y="3056081"/>
                <a:ext cx="2066728" cy="954107"/>
                <a:chOff x="1548342" y="1191743"/>
                <a:chExt cx="2066728" cy="954107"/>
              </a:xfrm>
            </p:grpSpPr>
            <p:sp>
              <p:nvSpPr>
                <p:cNvPr id="44" name="Rectangle 45">
                  <a:extLst>
                    <a:ext uri="{FF2B5EF4-FFF2-40B4-BE49-F238E27FC236}">
                      <a16:creationId xmlns:a16="http://schemas.microsoft.com/office/drawing/2014/main" id="{2508483E-6026-40F7-848F-33A10A3A951F}"/>
                    </a:ext>
                  </a:extLst>
                </p:cNvPr>
                <p:cNvSpPr/>
                <p:nvPr/>
              </p:nvSpPr>
              <p:spPr>
                <a:xfrm>
                  <a:off x="1548342" y="1275230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9730D8F-9D10-42C3-8769-9DC8700556C5}"/>
                    </a:ext>
                  </a:extLst>
                </p:cNvPr>
                <p:cNvSpPr txBox="1"/>
                <p:nvPr/>
              </p:nvSpPr>
              <p:spPr>
                <a:xfrm>
                  <a:off x="1840260" y="1191743"/>
                  <a:ext cx="177481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環境、</a:t>
                  </a:r>
                  <a:endParaRPr lang="en-US" altLang="zh-TW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社會和管治</a:t>
                  </a:r>
                  <a:endParaRPr lang="en-US" altLang="zh-TW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ESG</a:t>
                  </a:r>
                  <a:endParaRPr lang="zh-TW" altLang="en-US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AB144F6-39B7-4F0D-90B2-53453EF8BB0D}"/>
                  </a:ext>
                </a:extLst>
              </p:cNvPr>
              <p:cNvGrpSpPr/>
              <p:nvPr/>
            </p:nvGrpSpPr>
            <p:grpSpPr>
              <a:xfrm>
                <a:off x="9503906" y="3054793"/>
                <a:ext cx="2587006" cy="1200329"/>
                <a:chOff x="1368212" y="1190455"/>
                <a:chExt cx="2587006" cy="1200329"/>
              </a:xfrm>
            </p:grpSpPr>
            <p:sp>
              <p:nvSpPr>
                <p:cNvPr id="42" name="Rectangle 45">
                  <a:extLst>
                    <a:ext uri="{FF2B5EF4-FFF2-40B4-BE49-F238E27FC236}">
                      <a16:creationId xmlns:a16="http://schemas.microsoft.com/office/drawing/2014/main" id="{2FDD92C6-AE59-4D5B-B88D-BD80EDA30C29}"/>
                    </a:ext>
                  </a:extLst>
                </p:cNvPr>
                <p:cNvSpPr/>
                <p:nvPr/>
              </p:nvSpPr>
              <p:spPr>
                <a:xfrm>
                  <a:off x="1368212" y="1273942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3" name="TextBox 44">
                  <a:extLst>
                    <a:ext uri="{FF2B5EF4-FFF2-40B4-BE49-F238E27FC236}">
                      <a16:creationId xmlns:a16="http://schemas.microsoft.com/office/drawing/2014/main" id="{D69AB462-2186-4ED1-AF46-2E40AFA2435C}"/>
                    </a:ext>
                  </a:extLst>
                </p:cNvPr>
                <p:cNvSpPr txBox="1"/>
                <p:nvPr/>
              </p:nvSpPr>
              <p:spPr>
                <a:xfrm>
                  <a:off x="1660130" y="1190455"/>
                  <a:ext cx="2295088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跨境 </a:t>
                  </a:r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(</a:t>
                  </a:r>
                  <a:r>
                    <a:rPr lang="zh-TW" altLang="en-US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內地、東南亞及其他海外地區</a:t>
                  </a:r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)</a:t>
                  </a:r>
                  <a:endParaRPr lang="en-US" altLang="zh-CN" sz="13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Cross Border (Mainland, Southeast Asia and Other Overseas Regions</a:t>
                  </a:r>
                  <a:endParaRPr lang="zh-TW" altLang="en-US" sz="13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</p:grpSp>
      </p:grpSp>
      <p:sp>
        <p:nvSpPr>
          <p:cNvPr id="52" name="TextBox 44">
            <a:extLst>
              <a:ext uri="{FF2B5EF4-FFF2-40B4-BE49-F238E27FC236}">
                <a16:creationId xmlns:a16="http://schemas.microsoft.com/office/drawing/2014/main" id="{E770F552-6E10-4E60-9CB8-3DD593A83F70}"/>
              </a:ext>
            </a:extLst>
          </p:cNvPr>
          <p:cNvSpPr txBox="1"/>
          <p:nvPr/>
        </p:nvSpPr>
        <p:spPr>
          <a:xfrm>
            <a:off x="9553987" y="1139740"/>
            <a:ext cx="2581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量子計算</a:t>
            </a:r>
            <a:endParaRPr lang="en-US" altLang="zh-C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zh-TW" sz="1600" dirty="0">
                <a:latin typeface="Yu Gothic" panose="020B0400000000000000" pitchFamily="34" charset="-128"/>
                <a:ea typeface="Yu Gothic" panose="020B0400000000000000" pitchFamily="34" charset="-128"/>
              </a:rPr>
              <a:t>Quantum Computing</a:t>
            </a: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1292D7EB-AE39-4904-B61C-BBC3224B82E1}"/>
              </a:ext>
            </a:extLst>
          </p:cNvPr>
          <p:cNvSpPr/>
          <p:nvPr/>
        </p:nvSpPr>
        <p:spPr>
          <a:xfrm>
            <a:off x="9287925" y="1202600"/>
            <a:ext cx="266062" cy="22768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92EE60-A6E8-EAD4-3213-9136882A3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378" y="1076918"/>
            <a:ext cx="394258" cy="3942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A6448BD-09A5-D3BA-CEB6-2540A027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190" y="2936359"/>
            <a:ext cx="394258" cy="39425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HK】建議勾選：生成式 AI、大數據；場景：風控（主）、普惠金融（輔）。「量子計算」與方案不符，提交前請處理。</a:t>
            </a:r>
            <a:br/>
            <a:r>
              <a:t>【粵語口播】我哋參賽主題好清晰：GenAI 加大數據，場景跟返香港最關心嘅風控同普惠金融。三十秒內講完就得。</a:t>
            </a:r>
          </a:p>
        </p:txBody>
      </p:sp>
    </p:spTree>
    <p:extLst>
      <p:ext uri="{BB962C8B-B14F-4D97-AF65-F5344CB8AC3E}">
        <p14:creationId xmlns:p14="http://schemas.microsoft.com/office/powerpoint/2010/main" val="27709320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279E1F-F6F9-4F66-A0EE-713B7A83F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F26A1-A67A-42AA-955E-96316CDE6B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9C2ABB9-0AD2-489B-922D-AC97A1FB804D}"/>
              </a:ext>
            </a:extLst>
          </p:cNvPr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1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Proposal Overview 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HK】第一部：方案總覽——FINANO 係乜、點解適合中銀香港。</a:t>
            </a:r>
            <a:br/>
            <a:r>
              <a:t>【粵語口播】Part 1 我哋先答兩條問題：FINANO 做乜？點解中銀香港需要佢？</a:t>
            </a:r>
          </a:p>
        </p:txBody>
      </p:sp>
    </p:spTree>
    <p:extLst>
      <p:ext uri="{BB962C8B-B14F-4D97-AF65-F5344CB8AC3E}">
        <p14:creationId xmlns:p14="http://schemas.microsoft.com/office/powerpoint/2010/main" val="1214548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DF25-D1FD-318B-D7F9-651DC6C0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CCFAAA-7B6C-CB5C-33D7-17E09367F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6EFAF0-1DDD-FF85-0C6E-EB3950810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7EB74AD-A6A1-0092-9C66-A772F7F2353D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1.1 What is FINANO?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6D3331-28A6-8A5B-BF04-ADA43D4A8D51}"/>
              </a:ext>
            </a:extLst>
          </p:cNvPr>
          <p:cNvSpPr txBox="1"/>
          <p:nvPr/>
        </p:nvSpPr>
        <p:spPr>
          <a:xfrm>
            <a:off x="2350755" y="1321136"/>
            <a:ext cx="917414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FINANO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an AI multi-agent engine that upgrades how a bank profiles each client's </a:t>
            </a:r>
            <a:r>
              <a:rPr lang="en-US" altLang="zh-CN" sz="2400" b="1" i="1" dirty="0">
                <a:solidFill>
                  <a:schemeClr val="tx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behavior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recommends suitable funds.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915CD1-DE8F-B630-1D4E-785EEE57EC5B}"/>
              </a:ext>
            </a:extLst>
          </p:cNvPr>
          <p:cNvSpPr txBox="1"/>
          <p:nvPr/>
        </p:nvSpPr>
        <p:spPr>
          <a:xfrm>
            <a:off x="2350755" y="3169805"/>
            <a:ext cx="917414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The gap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it fills: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Banks today match clients to products by their 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money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FINANO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adds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missing layer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matching by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1D5F4F-4D6F-D2A2-AEC3-B4B193303099}"/>
              </a:ext>
            </a:extLst>
          </p:cNvPr>
          <p:cNvSpPr txBox="1"/>
          <p:nvPr/>
        </p:nvSpPr>
        <p:spPr>
          <a:xfrm>
            <a:off x="6937827" y="6431428"/>
            <a:ext cx="5345723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</a:rPr>
              <a:t>* FINANO </a:t>
            </a:r>
            <a:r>
              <a:rPr lang="en-US" altLang="zh-CN" sz="1600" b="1" i="1" dirty="0">
                <a:solidFill>
                  <a:schemeClr val="tx2">
                    <a:lumMod val="50000"/>
                  </a:schemeClr>
                </a:solidFill>
              </a:rPr>
              <a:t>augments</a:t>
            </a:r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</a:rPr>
              <a:t>, not replaces, a bank's existing KYC flow. </a:t>
            </a:r>
            <a:endParaRPr kumimoji="0" lang="zh-CN" altLang="en-US" sz="1600" b="0" i="1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HK】FINANO 係生成式 AI 多智能體引擎，補足「按投資行為配對基金」呢一層；強化而唔取代銀行 KYC。</a:t>
            </a:r>
            <a:br/>
            <a:r>
              <a:t>【粵語口播】銀行今日多數按資產同風險等級配產品；FINANO 多加一層——睇你幾時追升、幾時恐慌性賣出，先至叫真正適當。</a:t>
            </a:r>
          </a:p>
        </p:txBody>
      </p:sp>
    </p:spTree>
    <p:extLst>
      <p:ext uri="{BB962C8B-B14F-4D97-AF65-F5344CB8AC3E}">
        <p14:creationId xmlns:p14="http://schemas.microsoft.com/office/powerpoint/2010/main" val="353725983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2440-0712-7B1F-F0EE-F4278434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EDACDC-1BF7-3E0C-5D24-2BB898225A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8E5C3E-85B6-1558-8DBA-55B0AE3A8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F5E7880-B507-AF37-1A24-77CADE35B238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1.2 Three Core Engines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ADC933-7456-B76E-57CA-68F57CCAF4FF}"/>
              </a:ext>
            </a:extLst>
          </p:cNvPr>
          <p:cNvSpPr txBox="1"/>
          <p:nvPr/>
        </p:nvSpPr>
        <p:spPr>
          <a:xfrm>
            <a:off x="1971430" y="700526"/>
            <a:ext cx="99327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Three engines, one closed loop that knows each client better over time.</a:t>
            </a:r>
            <a:endParaRPr kumimoji="0" lang="zh-CN" altLang="en-US" sz="2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2FCB77-95DC-02CF-546C-FF5681BFF096}"/>
              </a:ext>
            </a:extLst>
          </p:cNvPr>
          <p:cNvSpPr txBox="1"/>
          <p:nvPr/>
        </p:nvSpPr>
        <p:spPr>
          <a:xfrm>
            <a:off x="1971429" y="6183392"/>
            <a:ext cx="1017897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Each loop sharpens the profile; the longer a client uses it, the harder to leave. 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A3084840-A06A-813C-B5AD-A5D69DED8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756033"/>
              </p:ext>
            </p:extLst>
          </p:nvPr>
        </p:nvGraphicFramePr>
        <p:xfrm>
          <a:off x="3667648" y="1514819"/>
          <a:ext cx="5992165" cy="3978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782446BB-E1EC-41B7-DEA9-9B1E7E0E417B}"/>
              </a:ext>
            </a:extLst>
          </p:cNvPr>
          <p:cNvSpPr txBox="1"/>
          <p:nvPr/>
        </p:nvSpPr>
        <p:spPr>
          <a:xfrm>
            <a:off x="2203223" y="1831757"/>
            <a:ext cx="2319217" cy="1634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i="1" dirty="0"/>
              <a:t>8-question behavioral profile → 16 personality types, injected into every analysis.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B9EDC5-80A8-9ECE-EEFA-74269AE73F00}"/>
              </a:ext>
            </a:extLst>
          </p:cNvPr>
          <p:cNvSpPr txBox="1"/>
          <p:nvPr/>
        </p:nvSpPr>
        <p:spPr>
          <a:xfrm>
            <a:off x="8755426" y="2138224"/>
            <a:ext cx="2597876" cy="10215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i="1" dirty="0"/>
              <a:t>5 parallel AI agents score a fund; a compliance agent vets the output.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B38A95-16A0-1521-F4DE-8DC07E5CF92D}"/>
              </a:ext>
            </a:extLst>
          </p:cNvPr>
          <p:cNvSpPr txBox="1"/>
          <p:nvPr/>
        </p:nvSpPr>
        <p:spPr>
          <a:xfrm>
            <a:off x="4669025" y="5325521"/>
            <a:ext cx="4086401" cy="71508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i="1" dirty="0"/>
              <a:t>links every trade to its rationale, turning client history into a switching-cost moat.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A36CDB-A6CE-960E-7B9B-53B0E5B0A392}"/>
              </a:ext>
            </a:extLst>
          </p:cNvPr>
          <p:cNvSpPr txBox="1"/>
          <p:nvPr/>
        </p:nvSpPr>
        <p:spPr>
          <a:xfrm>
            <a:off x="4570324" y="2788564"/>
            <a:ext cx="22056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Know the client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F83521-45D4-6A9B-301B-F03393EB50EF}"/>
              </a:ext>
            </a:extLst>
          </p:cNvPr>
          <p:cNvSpPr txBox="1"/>
          <p:nvPr/>
        </p:nvSpPr>
        <p:spPr>
          <a:xfrm>
            <a:off x="7458318" y="2788564"/>
            <a:ext cx="13591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Analyze fit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417C04-1133-7EED-096F-AA5C9D02707F}"/>
              </a:ext>
            </a:extLst>
          </p:cNvPr>
          <p:cNvSpPr txBox="1"/>
          <p:nvPr/>
        </p:nvSpPr>
        <p:spPr>
          <a:xfrm>
            <a:off x="5333997" y="4956191"/>
            <a:ext cx="28838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Surface Behavior patterns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76F700-DDF2-85C9-AA4D-433F85BED806}"/>
              </a:ext>
            </a:extLst>
          </p:cNvPr>
          <p:cNvSpPr txBox="1"/>
          <p:nvPr/>
        </p:nvSpPr>
        <p:spPr>
          <a:xfrm>
            <a:off x="5056321" y="3448330"/>
            <a:ext cx="790471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Refine the profile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HK】三引擎閉環：FBTI（8 題行為畫像→16 類型）、MAFB（五路 GenAI 評分+合規）、Trade Replay（交易與筆記雙向回溯）。</a:t>
            </a:r>
            <a:br/>
            <a:r>
              <a:t>【粵語口播】三個引擎一齊轉：識客、分析配對、從交易搵行為規律，愈用愈了解個客，亦愈難被競爭對手複製。</a:t>
            </a:r>
          </a:p>
        </p:txBody>
      </p:sp>
    </p:spTree>
    <p:extLst>
      <p:ext uri="{BB962C8B-B14F-4D97-AF65-F5344CB8AC3E}">
        <p14:creationId xmlns:p14="http://schemas.microsoft.com/office/powerpoint/2010/main" val="393953171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4D44-DB8C-2C2C-6396-8AD8F7B5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1F0A5E-87E6-DDA2-43A1-A0FEAF5473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6F91F6-F011-C20A-1D78-CDECC3AD0A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C9A8744-7D3F-3F84-63D9-167549218716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1.3 Value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to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BOCHK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F7736B-BB82-D358-9045-0ADBDA48A619}"/>
              </a:ext>
            </a:extLst>
          </p:cNvPr>
          <p:cNvSpPr txBox="1"/>
          <p:nvPr/>
        </p:nvSpPr>
        <p:spPr>
          <a:xfrm>
            <a:off x="1848897" y="915910"/>
            <a:ext cx="10220570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Today, suitability is assessed by money. With FINANO, it‘s also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assessed by behavior, and every recommendation is auto-documented.</a:t>
            </a:r>
            <a:endParaRPr kumimoji="0" lang="zh-CN" alt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DDD07C-0321-EA8D-7398-53B146A58515}"/>
              </a:ext>
            </a:extLst>
          </p:cNvPr>
          <p:cNvSpPr txBox="1"/>
          <p:nvPr/>
        </p:nvSpPr>
        <p:spPr>
          <a:xfrm>
            <a:off x="3823396" y="2305433"/>
            <a:ext cx="105507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TODAY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7B7669-F1DA-82AD-3282-17805F179A92}"/>
              </a:ext>
            </a:extLst>
          </p:cNvPr>
          <p:cNvSpPr txBox="1"/>
          <p:nvPr/>
        </p:nvSpPr>
        <p:spPr>
          <a:xfrm>
            <a:off x="8194430" y="2305433"/>
            <a:ext cx="203981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WITH FINANO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036934-29FB-AE9F-241C-E0CA7E3AC459}"/>
              </a:ext>
            </a:extLst>
          </p:cNvPr>
          <p:cNvSpPr/>
          <p:nvPr/>
        </p:nvSpPr>
        <p:spPr>
          <a:xfrm>
            <a:off x="2220683" y="2847481"/>
            <a:ext cx="4260503" cy="3285811"/>
          </a:xfrm>
          <a:prstGeom prst="roundRect">
            <a:avLst>
              <a:gd name="adj" fmla="val 584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FBDD020-A64A-27BD-AF0E-96E445357E26}"/>
              </a:ext>
            </a:extLst>
          </p:cNvPr>
          <p:cNvSpPr/>
          <p:nvPr/>
        </p:nvSpPr>
        <p:spPr>
          <a:xfrm>
            <a:off x="6802733" y="2847481"/>
            <a:ext cx="4823209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92379F-ED39-9AA6-5CE1-D2AF906F3430}"/>
              </a:ext>
            </a:extLst>
          </p:cNvPr>
          <p:cNvSpPr txBox="1"/>
          <p:nvPr/>
        </p:nvSpPr>
        <p:spPr>
          <a:xfrm>
            <a:off x="2371407" y="3290058"/>
            <a:ext cx="4109779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Static, money-based KYC, rarely updated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Mechanical risk-tier matching → mis-selling &amp; complaints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SFC pressure on suitability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B8E2CB-2AEB-B772-DDA8-309549E19B94}"/>
              </a:ext>
            </a:extLst>
          </p:cNvPr>
          <p:cNvSpPr txBox="1"/>
          <p:nvPr/>
        </p:nvSpPr>
        <p:spPr>
          <a:xfrm>
            <a:off x="6819586" y="3290057"/>
            <a:ext cx="4823209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 behavioral layer running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 parallel with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KYC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Suitability-first matching, not return-first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Auto-logged rationale → satisfies "record each recommendation's reason"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HK】價值：由「淨睇錢」升級到「睇行為」；每個建議自動留低理據，呼應證監會適當性要求。</a:t>
            </a:r>
            <a:br/>
            <a:r>
              <a:t>【粵語口播】以前適當性多數睇身家同風險級；有 FINANO 之後，仲會睇行為，而且每個推薦都有 AI 幫你寫低原因，RM 慳時間，合規都安心啲。</a:t>
            </a:r>
          </a:p>
        </p:txBody>
      </p:sp>
    </p:spTree>
    <p:extLst>
      <p:ext uri="{BB962C8B-B14F-4D97-AF65-F5344CB8AC3E}">
        <p14:creationId xmlns:p14="http://schemas.microsoft.com/office/powerpoint/2010/main" val="4078857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DAE5-CCEA-6995-44D9-9D42F80F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E2A2C9-F3B1-27FA-F967-9FA365C95E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41D07A-DBFD-21EE-AB6C-B8A5869DF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6BC04F8-E389-4180-2A28-4D3623067D16}"/>
              </a:ext>
            </a:extLst>
          </p:cNvPr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2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Target Market &amp; Customer Groups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HK】第二部：目標市場——B2B 賣畀銀行，零售用戶只做驗證。</a:t>
            </a:r>
            <a:br/>
            <a:r>
              <a:t>【粵語口播】我哋嘅客戶係銀行，唔係散戶 app；中銀香港係最理想嘅第一個合作夥伴。</a:t>
            </a:r>
          </a:p>
        </p:txBody>
      </p:sp>
    </p:spTree>
    <p:extLst>
      <p:ext uri="{BB962C8B-B14F-4D97-AF65-F5344CB8AC3E}">
        <p14:creationId xmlns:p14="http://schemas.microsoft.com/office/powerpoint/2010/main" val="3068984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4861-EE29-E651-51CA-CC3FDB535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B0440BF-34DF-4E3C-8B1E-A9FD8B2157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6020EC-5240-0F2C-D28F-D9BCA10262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0243084-922B-3377-0B2A-3A14BD56A638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2.1 Who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Pays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Why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Banks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D31113-9EE5-01B4-3F87-35218E17EB60}"/>
              </a:ext>
            </a:extLst>
          </p:cNvPr>
          <p:cNvSpPr txBox="1"/>
          <p:nvPr/>
        </p:nvSpPr>
        <p:spPr>
          <a:xfrm>
            <a:off x="1848897" y="855620"/>
            <a:ext cx="8058778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Our primary customer is the bank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BOCHK is the ideal first partner.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57E74E-4047-50C5-0695-86527FAC5079}"/>
              </a:ext>
            </a:extLst>
          </p:cNvPr>
          <p:cNvSpPr txBox="1"/>
          <p:nvPr/>
        </p:nvSpPr>
        <p:spPr>
          <a:xfrm>
            <a:off x="2866292" y="1759211"/>
            <a:ext cx="142686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The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Need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3AB9B7-E565-39AC-D6A6-EAEB67FE32A6}"/>
              </a:ext>
            </a:extLst>
          </p:cNvPr>
          <p:cNvSpPr txBox="1"/>
          <p:nvPr/>
        </p:nvSpPr>
        <p:spPr>
          <a:xfrm>
            <a:off x="6223930" y="1760742"/>
            <a:ext cx="203981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Why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Banks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79C179-1561-2060-1588-47273D16D356}"/>
              </a:ext>
            </a:extLst>
          </p:cNvPr>
          <p:cNvSpPr txBox="1"/>
          <p:nvPr/>
        </p:nvSpPr>
        <p:spPr>
          <a:xfrm>
            <a:off x="9359270" y="1759211"/>
            <a:ext cx="24251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Why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BOCHK first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022E13C-955D-5C55-A914-441B22D2A412}"/>
              </a:ext>
            </a:extLst>
          </p:cNvPr>
          <p:cNvSpPr/>
          <p:nvPr/>
        </p:nvSpPr>
        <p:spPr>
          <a:xfrm>
            <a:off x="2014694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3B93C7-17A3-69CE-89BF-95C27DDA0F00}"/>
              </a:ext>
            </a:extLst>
          </p:cNvPr>
          <p:cNvSpPr txBox="1"/>
          <p:nvPr/>
        </p:nvSpPr>
        <p:spPr>
          <a:xfrm>
            <a:off x="2014694" y="2585982"/>
            <a:ext cx="3130062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HK banks must document that every fund recommendation is suitable, yet still rely on </a:t>
            </a:r>
            <a:r>
              <a:rPr lang="en-US" altLang="zh-CN" sz="2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risk questionnaires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→ a behavioral blind spot.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5D3CA90-AE83-AB70-6968-31AF41DC4E62}"/>
              </a:ext>
            </a:extLst>
          </p:cNvPr>
          <p:cNvSpPr/>
          <p:nvPr/>
        </p:nvSpPr>
        <p:spPr>
          <a:xfrm>
            <a:off x="5475793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8B28E1-1406-BC41-E7F8-FB03F9F51922}"/>
              </a:ext>
            </a:extLst>
          </p:cNvPr>
          <p:cNvSpPr txBox="1"/>
          <p:nvPr/>
        </p:nvSpPr>
        <p:spPr>
          <a:xfrm>
            <a:off x="5546461" y="2593677"/>
            <a:ext cx="3130062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Banks carry the compliance burden, own the distribution.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value of behavioral profiling is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inside the bank.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7BBA09D-8BB9-D294-FE54-5ED56B62768C}"/>
              </a:ext>
            </a:extLst>
          </p:cNvPr>
          <p:cNvSpPr/>
          <p:nvPr/>
        </p:nvSpPr>
        <p:spPr>
          <a:xfrm>
            <a:off x="8898156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4EC42D-F9B7-F14D-BF50-F5C7DAB95562}"/>
              </a:ext>
            </a:extLst>
          </p:cNvPr>
          <p:cNvSpPr txBox="1"/>
          <p:nvPr/>
        </p:nvSpPr>
        <p:spPr>
          <a:xfrm>
            <a:off x="8898156" y="2992016"/>
            <a:ext cx="3130062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GBA retail bank, active in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fintech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This competition is itself step one of a pilot.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931376-16C6-D69E-A421-83F7BD95F701}"/>
              </a:ext>
            </a:extLst>
          </p:cNvPr>
          <p:cNvSpPr txBox="1"/>
          <p:nvPr/>
        </p:nvSpPr>
        <p:spPr>
          <a:xfrm>
            <a:off x="6909072" y="6429934"/>
            <a:ext cx="527309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We sell to banks (B2B). Retail users are our validation layer.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HK】香港銀行要為每個基金建議證明適當性，但問卷靜態、行為盲點仍在；今次大賽係 PoC 第一步。</a:t>
            </a:r>
            <a:br/>
            <a:r>
              <a:t>【粵語口播】點解搵銀行買單？因為合規責任喺銀行度。點解先搵中銀香港？大灣區龍頭、金融科技活躍，同大賽合作機會啱晒。</a:t>
            </a:r>
          </a:p>
        </p:txBody>
      </p:sp>
    </p:spTree>
    <p:extLst>
      <p:ext uri="{BB962C8B-B14F-4D97-AF65-F5344CB8AC3E}">
        <p14:creationId xmlns:p14="http://schemas.microsoft.com/office/powerpoint/2010/main" val="19645432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BAD1-C57A-7962-526C-F1071BDD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2F8819-F142-B6ED-D3B8-A9550F1E9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11D4E9-EFA8-3C1A-F51A-D3AB3B22B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7AC1B7F-6A3D-B30B-D708-7204A70AEBB9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2.2 Market Size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Opportunity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E52D8D-1F36-0CDD-0446-C36E97CB2235}"/>
              </a:ext>
            </a:extLst>
          </p:cNvPr>
          <p:cNvSpPr txBox="1"/>
          <p:nvPr/>
        </p:nvSpPr>
        <p:spPr>
          <a:xfrm>
            <a:off x="1848897" y="736264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large, fast-growing value pool — reached through a handful of buyers.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F669EE-9176-50FA-B9D8-33105D36FB24}"/>
              </a:ext>
            </a:extLst>
          </p:cNvPr>
          <p:cNvSpPr txBox="1"/>
          <p:nvPr/>
        </p:nvSpPr>
        <p:spPr>
          <a:xfrm>
            <a:off x="1848897" y="5439280"/>
            <a:ext cx="1025166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HKMA &amp; SFC are actively streamlining suitability assessment, and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is now banks' top client investment theme.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A17D540-B87E-393C-AE0D-EBC1AAF8FC27}"/>
              </a:ext>
            </a:extLst>
          </p:cNvPr>
          <p:cNvSpPr/>
          <p:nvPr/>
        </p:nvSpPr>
        <p:spPr>
          <a:xfrm>
            <a:off x="2651760" y="1452880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47F036C-A490-FAFC-DFF7-FF42D39960AC}"/>
              </a:ext>
            </a:extLst>
          </p:cNvPr>
          <p:cNvSpPr/>
          <p:nvPr/>
        </p:nvSpPr>
        <p:spPr>
          <a:xfrm>
            <a:off x="2651760" y="2245360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5C37CDE-5374-D9BF-1C95-E9EA0F022FAC}"/>
              </a:ext>
            </a:extLst>
          </p:cNvPr>
          <p:cNvSpPr/>
          <p:nvPr/>
        </p:nvSpPr>
        <p:spPr>
          <a:xfrm>
            <a:off x="2651760" y="3017158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56275C-C9CF-AE1B-C084-2050A4EDBFB1}"/>
              </a:ext>
            </a:extLst>
          </p:cNvPr>
          <p:cNvSpPr txBox="1"/>
          <p:nvPr/>
        </p:nvSpPr>
        <p:spPr>
          <a:xfrm>
            <a:off x="2905760" y="1499046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TAM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408C60-6929-48CF-96EF-618DD5189FA9}"/>
              </a:ext>
            </a:extLst>
          </p:cNvPr>
          <p:cNvSpPr txBox="1"/>
          <p:nvPr/>
        </p:nvSpPr>
        <p:spPr>
          <a:xfrm>
            <a:off x="2905760" y="2311263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/>
              <a:t>S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65186C-1C0B-BB11-60BE-C7C33120FD89}"/>
              </a:ext>
            </a:extLst>
          </p:cNvPr>
          <p:cNvSpPr txBox="1"/>
          <p:nvPr/>
        </p:nvSpPr>
        <p:spPr>
          <a:xfrm>
            <a:off x="2905760" y="3063324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/>
              <a:t>SO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D7E0A44-A1B4-9256-5405-8A8E0E5EB152}"/>
              </a:ext>
            </a:extLst>
          </p:cNvPr>
          <p:cNvSpPr/>
          <p:nvPr/>
        </p:nvSpPr>
        <p:spPr>
          <a:xfrm>
            <a:off x="4213040" y="1452880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8A8F180-3AFB-FDBB-E406-CF254B630780}"/>
              </a:ext>
            </a:extLst>
          </p:cNvPr>
          <p:cNvSpPr/>
          <p:nvPr/>
        </p:nvSpPr>
        <p:spPr>
          <a:xfrm>
            <a:off x="4213039" y="2245360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93501C8-CD51-DCD1-718D-04F87EF56FE1}"/>
              </a:ext>
            </a:extLst>
          </p:cNvPr>
          <p:cNvSpPr/>
          <p:nvPr/>
        </p:nvSpPr>
        <p:spPr>
          <a:xfrm>
            <a:off x="4213039" y="3052993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24E8BA-9C5A-08D0-6B61-85A0D5F1C590}"/>
              </a:ext>
            </a:extLst>
          </p:cNvPr>
          <p:cNvSpPr txBox="1"/>
          <p:nvPr/>
        </p:nvSpPr>
        <p:spPr>
          <a:xfrm>
            <a:off x="4536607" y="1540358"/>
            <a:ext cx="119363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HKD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35.1T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D8FECC-EBE9-E4CA-A934-A52019F5AEED}"/>
              </a:ext>
            </a:extLst>
          </p:cNvPr>
          <p:cNvSpPr txBox="1"/>
          <p:nvPr/>
        </p:nvSpPr>
        <p:spPr>
          <a:xfrm>
            <a:off x="4578021" y="2322304"/>
            <a:ext cx="1396059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~ 20 banks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E076BC-2115-E5E1-5D45-F26E0246D803}"/>
              </a:ext>
            </a:extLst>
          </p:cNvPr>
          <p:cNvSpPr txBox="1"/>
          <p:nvPr/>
        </p:nvSpPr>
        <p:spPr>
          <a:xfrm>
            <a:off x="4536607" y="3129937"/>
            <a:ext cx="119363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1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2 - 3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0D9F38B-5D20-32FF-1FB0-F055ABE33452}"/>
              </a:ext>
            </a:extLst>
          </p:cNvPr>
          <p:cNvSpPr/>
          <p:nvPr/>
        </p:nvSpPr>
        <p:spPr>
          <a:xfrm>
            <a:off x="6461929" y="1452880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CDBC30-AEB5-A358-137E-D20B2CC68037}"/>
              </a:ext>
            </a:extLst>
          </p:cNvPr>
          <p:cNvSpPr txBox="1"/>
          <p:nvPr/>
        </p:nvSpPr>
        <p:spPr>
          <a:xfrm>
            <a:off x="6675120" y="1540358"/>
            <a:ext cx="41075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HK asset &amp; wealth AUM, 2024 (+13%)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F5A66C0-5F5D-D6CC-AF93-52B5BE304E0D}"/>
              </a:ext>
            </a:extLst>
          </p:cNvPr>
          <p:cNvSpPr/>
          <p:nvPr/>
        </p:nvSpPr>
        <p:spPr>
          <a:xfrm>
            <a:off x="6461929" y="2245360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7318F3C-3906-79CC-3359-82A8DC42EE07}"/>
              </a:ext>
            </a:extLst>
          </p:cNvPr>
          <p:cNvSpPr txBox="1"/>
          <p:nvPr/>
        </p:nvSpPr>
        <p:spPr>
          <a:xfrm>
            <a:off x="6675120" y="2332838"/>
            <a:ext cx="460248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Retail banks distributing funds (of 149 licensed)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57D99AF-975B-8476-ED61-9C4B8A0F39EF}"/>
              </a:ext>
            </a:extLst>
          </p:cNvPr>
          <p:cNvSpPr/>
          <p:nvPr/>
        </p:nvSpPr>
        <p:spPr>
          <a:xfrm>
            <a:off x="6461929" y="3052993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326AA8-9050-E1A9-09B9-BA146C6DEC52}"/>
              </a:ext>
            </a:extLst>
          </p:cNvPr>
          <p:cNvSpPr txBox="1"/>
          <p:nvPr/>
        </p:nvSpPr>
        <p:spPr>
          <a:xfrm>
            <a:off x="6675120" y="3140471"/>
            <a:ext cx="41075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BOCHK pilot Y1 → GBA banks by Y3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79FDD97-30D7-5D8D-ADEC-654E94169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802688" y="1509580"/>
            <a:ext cx="461663" cy="46166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82ABDCA-2EEA-13B1-8DAC-D4ADA64F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802688" y="2311263"/>
            <a:ext cx="461663" cy="46166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A6DAD64-E8B2-930D-9194-278DAE22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802688" y="3094304"/>
            <a:ext cx="461663" cy="46166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6006E0F7-3903-0F11-0BB3-D436CD456B95}"/>
              </a:ext>
            </a:extLst>
          </p:cNvPr>
          <p:cNvSpPr txBox="1"/>
          <p:nvPr/>
        </p:nvSpPr>
        <p:spPr>
          <a:xfrm>
            <a:off x="2677160" y="3956614"/>
            <a:ext cx="7995920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Retail-bank investment-product sales (doubled in 2022–2024): 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HK$819B → HK$1.77T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1B9BA6-E7A8-1799-9883-47C3A7E31BD1}"/>
              </a:ext>
            </a:extLst>
          </p:cNvPr>
          <p:cNvSpPr txBox="1"/>
          <p:nvPr/>
        </p:nvSpPr>
        <p:spPr>
          <a:xfrm>
            <a:off x="3657600" y="6349173"/>
            <a:ext cx="844296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Sources: AUM &amp; net inflows — SFC, Asset &amp; Wealth Management Activities Survey 2024 (Jul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Retail-bank fund sales — HKMA (Aug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Licensed-bank count — HKMA Register of Authorized Institutions (Aug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~20 retail banks — team estimate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HK】市場大、增長快：本港資產及財富管理 AUM 35.1 萬億港元；零售銀行投資產品銷售兩年間近乎翻倍。</a:t>
            </a:r>
            <a:br/>
            <a:r>
              <a:t>【粵語口播】市場好大，但買家好集中——大約二十間零售銀行。我哋 Y1 做中銀香港 pilot，Y3 擴展大灣區。</a:t>
            </a:r>
          </a:p>
        </p:txBody>
      </p:sp>
    </p:spTree>
    <p:extLst>
      <p:ext uri="{BB962C8B-B14F-4D97-AF65-F5344CB8AC3E}">
        <p14:creationId xmlns:p14="http://schemas.microsoft.com/office/powerpoint/2010/main" val="2947836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38376-0A35-1F37-8407-CDE304C12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63CB8F-F941-787F-484E-BF4C61F87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D7C59A-213E-C36B-EFC3-860E137977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A1CC179-78EE-01EB-18C4-B6C4735BF6F4}"/>
              </a:ext>
            </a:extLst>
          </p:cNvPr>
          <p:cNvSpPr txBox="1"/>
          <p:nvPr/>
        </p:nvSpPr>
        <p:spPr>
          <a:xfrm>
            <a:off x="1848896" y="88020"/>
            <a:ext cx="933726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2.3 Competitive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Landscape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Differentiation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955E72-4D35-DFEB-0EDC-6F5672E1A10D}"/>
              </a:ext>
            </a:extLst>
          </p:cNvPr>
          <p:cNvSpPr txBox="1"/>
          <p:nvPr/>
        </p:nvSpPr>
        <p:spPr>
          <a:xfrm>
            <a:off x="1848896" y="672795"/>
            <a:ext cx="1003830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No incumbent combines behavioral profiling + multi-agent analysis + memory — inside the bank's compliance perimeter.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C7C35C-9409-E14A-1C9D-71835FF9BF94}"/>
              </a:ext>
            </a:extLst>
          </p:cNvPr>
          <p:cNvSpPr txBox="1"/>
          <p:nvPr/>
        </p:nvSpPr>
        <p:spPr>
          <a:xfrm>
            <a:off x="1848896" y="6185205"/>
            <a:ext cx="10083086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Our moat is the behavioral data that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compounds with every client interaction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620898F-46DC-9A58-FDD9-5B4C7933C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0553"/>
              </p:ext>
            </p:extLst>
          </p:nvPr>
        </p:nvGraphicFramePr>
        <p:xfrm>
          <a:off x="1964396" y="1859279"/>
          <a:ext cx="9946863" cy="3944621"/>
        </p:xfrm>
        <a:graphic>
          <a:graphicData uri="http://schemas.openxmlformats.org/drawingml/2006/table">
            <a:tbl>
              <a:tblPr/>
              <a:tblGrid>
                <a:gridCol w="3088864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1138198830"/>
                    </a:ext>
                  </a:extLst>
                </a:gridCol>
                <a:gridCol w="3444239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Alternatives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 KYC / risk questionnaire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Money &amp; risk-tier only;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 behavior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16-type behavioral layer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Robo-advisors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 allocation models,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per-client behavior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Behavior-driven, explainable fit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Generic LLM copilots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structured profile,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hallucination risk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agent + structured output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wealthtech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analytics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depth but no personalization or auto-logging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Auto-logged, suitability-first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6807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HK】差異化：行為畫像 + 生成式 AI 多智能體 + 交易記憶，而且可部署喺銀行合規邊界內。</a:t>
            </a:r>
            <a:br/>
            <a:r>
              <a:t>【粵語口播】市場上有 chatbot、有 robo-advisor，但少有好似我哋咁，將行為、多智能體同歷史交易記憶放喺同一條可審計 pipeline 入面。</a:t>
            </a:r>
          </a:p>
        </p:txBody>
      </p:sp>
    </p:spTree>
    <p:extLst>
      <p:ext uri="{BB962C8B-B14F-4D97-AF65-F5344CB8AC3E}">
        <p14:creationId xmlns:p14="http://schemas.microsoft.com/office/powerpoint/2010/main" val="9828505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B322-5AA9-F513-2536-00617A05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CF9DE8-4369-B7C0-FEBD-39AE91C3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45B03F-1EA7-3102-81CE-E8522F10FE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19B7B78-C0A9-77D5-44ED-15106CC743E8}"/>
              </a:ext>
            </a:extLst>
          </p:cNvPr>
          <p:cNvSpPr txBox="1"/>
          <p:nvPr/>
        </p:nvSpPr>
        <p:spPr>
          <a:xfrm>
            <a:off x="2130645" y="2037399"/>
            <a:ext cx="9614366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3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Business Issues / Customers' Pain Points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HK】第三部：行業痛點——用監管同成本證明問題係真嘅。</a:t>
            </a:r>
            <a:br/>
            <a:r>
              <a:t>【粵語口播】跟住兩頁唔係講故事，係講香港市場真實發生緊嘅監管壓力同罰款。</a:t>
            </a:r>
          </a:p>
        </p:txBody>
      </p:sp>
    </p:spTree>
    <p:extLst>
      <p:ext uri="{BB962C8B-B14F-4D97-AF65-F5344CB8AC3E}">
        <p14:creationId xmlns:p14="http://schemas.microsoft.com/office/powerpoint/2010/main" val="68256697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C74D-7262-02E7-B36C-0EDB6090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67700E-2ACF-4464-0465-F132D7225A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728660-5285-1B67-63C5-CD5A2BB83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F5409CB-EB27-8AA2-8DED-789CCC3A1DF5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3.1 Three Structural Pain Points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55A017-9185-33EF-11FA-3F33E7FECCA4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Banks match clients by their money — and stay blind to how clients actually behave.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D541EA-581D-58ED-041A-39B965FBC756}"/>
              </a:ext>
            </a:extLst>
          </p:cNvPr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 risk tier is not a behavioral profile — and SFC says mechanical matching alone isn't enough.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862C9DE-54A3-92F5-6005-63940ADBD550}"/>
              </a:ext>
            </a:extLst>
          </p:cNvPr>
          <p:cNvSpPr/>
          <p:nvPr/>
        </p:nvSpPr>
        <p:spPr>
          <a:xfrm>
            <a:off x="917778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F01A139-04DA-C6CA-2480-DBD41A3D4F3F}"/>
              </a:ext>
            </a:extLst>
          </p:cNvPr>
          <p:cNvSpPr/>
          <p:nvPr/>
        </p:nvSpPr>
        <p:spPr>
          <a:xfrm>
            <a:off x="561156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1F3596-D628-A9DA-BC8A-D92369F10DC6}"/>
              </a:ext>
            </a:extLst>
          </p:cNvPr>
          <p:cNvSpPr txBox="1"/>
          <p:nvPr/>
        </p:nvSpPr>
        <p:spPr>
          <a:xfrm>
            <a:off x="9313325" y="2365054"/>
            <a:ext cx="278723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Mis-selling, complaints &amp; regulatory exposure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71F04-1142-9E4A-BD87-11ADCA08F5A7}"/>
              </a:ext>
            </a:extLst>
          </p:cNvPr>
          <p:cNvSpPr txBox="1"/>
          <p:nvPr/>
        </p:nvSpPr>
        <p:spPr>
          <a:xfrm>
            <a:off x="5871115" y="2503553"/>
            <a:ext cx="259546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blind spot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B1DCEF6-0839-52EB-0EEA-1E5D6C0DDD42}"/>
              </a:ext>
            </a:extLst>
          </p:cNvPr>
          <p:cNvSpPr/>
          <p:nvPr/>
        </p:nvSpPr>
        <p:spPr>
          <a:xfrm>
            <a:off x="204534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76BFA9-1CAA-724B-1DFC-F2800E10B9DB}"/>
              </a:ext>
            </a:extLst>
          </p:cNvPr>
          <p:cNvSpPr txBox="1"/>
          <p:nvPr/>
        </p:nvSpPr>
        <p:spPr>
          <a:xfrm>
            <a:off x="2086144" y="2503553"/>
            <a:ext cx="28785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Static, money-based KYC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E7EA80B-7DD2-F6A6-92A4-18DEDC3A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54703" y="2503553"/>
            <a:ext cx="461663" cy="4616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7DE60D0-A684-10EF-694B-D0C482751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25617" y="2503553"/>
            <a:ext cx="461663" cy="461663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A035A029-044C-6E5C-8722-3334EB882E3A}"/>
              </a:ext>
            </a:extLst>
          </p:cNvPr>
          <p:cNvSpPr txBox="1"/>
          <p:nvPr/>
        </p:nvSpPr>
        <p:spPr>
          <a:xfrm>
            <a:off x="1998124" y="3360561"/>
            <a:ext cx="3257836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 risk questionnaire taken once, rarely updated; captures wealth &amp; risk tier, not behavior.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CFE634-9943-E22E-2C04-7019D5359C92}"/>
              </a:ext>
            </a:extLst>
          </p:cNvPr>
          <p:cNvSpPr txBox="1"/>
          <p:nvPr/>
        </p:nvSpPr>
        <p:spPr>
          <a:xfrm>
            <a:off x="5741337" y="3360561"/>
            <a:ext cx="2855020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Banks can't see a client's panic-selling, FOMO-buying, or over-trading tendencies.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518BAE8-2A84-795B-FD79-6E9EB7CE2D4A}"/>
              </a:ext>
            </a:extLst>
          </p:cNvPr>
          <p:cNvSpPr txBox="1"/>
          <p:nvPr/>
        </p:nvSpPr>
        <p:spPr>
          <a:xfrm>
            <a:off x="9177780" y="3360561"/>
            <a:ext cx="3004388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Products that exceed real suitability led to complaints, remediation, and fines.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HK】結構性痛點：風險等級 ≠ 行為畫像；機械式配對不足以滿足證監會；恐慌性賣出、FOMO 買入睇唔到。</a:t>
            </a:r>
            <a:br/>
            <a:r>
              <a:t>【粵語口播】做過一次風險問卷，唔代表銀行真係了解你點樣炒基金。SFC 要嘅係適當性，唔係淨係睇 return。</a:t>
            </a:r>
          </a:p>
        </p:txBody>
      </p:sp>
    </p:spTree>
    <p:extLst>
      <p:ext uri="{BB962C8B-B14F-4D97-AF65-F5344CB8AC3E}">
        <p14:creationId xmlns:p14="http://schemas.microsoft.com/office/powerpoint/2010/main" val="9949274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FC2A-7045-B974-D524-6640AFE6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2A8FE5-BC9F-49C1-E7E0-0967225EA1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FD4B24-B440-2D57-8771-19B9C87CCE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DBA4CA5-E8E6-2C2F-65AA-A53241FCE21A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3.2 The Cost Is Real &amp; Rising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170A39-4DED-6F24-D24B-4BAC2758F89D}"/>
              </a:ext>
            </a:extLst>
          </p:cNvPr>
          <p:cNvSpPr txBox="1"/>
          <p:nvPr/>
        </p:nvSpPr>
        <p:spPr>
          <a:xfrm>
            <a:off x="1873961" y="913181"/>
            <a:ext cx="1003830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The behavioral gap isn't abstract — it shows up as rising volume, more clients, and real fines.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CBE9BB-FF32-7E68-7B00-E03FC77C4202}"/>
              </a:ext>
            </a:extLst>
          </p:cNvPr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Every recommendation must be justified and recorded — and the volume is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doubling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7422B8-BE7A-6C6C-BCA3-7406FEF2E038}"/>
              </a:ext>
            </a:extLst>
          </p:cNvPr>
          <p:cNvSpPr txBox="1"/>
          <p:nvPr/>
        </p:nvSpPr>
        <p:spPr>
          <a:xfrm>
            <a:off x="2742065" y="3283565"/>
            <a:ext cx="117067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</a:rPr>
              <a:t>4.3M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C2C1EB-F8C9-3555-0901-48B85923525C}"/>
              </a:ext>
            </a:extLst>
          </p:cNvPr>
          <p:cNvSpPr txBox="1"/>
          <p:nvPr/>
        </p:nvSpPr>
        <p:spPr>
          <a:xfrm>
            <a:off x="3059327" y="2313817"/>
            <a:ext cx="53614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</a:rPr>
              <a:t>2x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6D0C9E-821A-22AE-DC4E-C93B341BBD26}"/>
              </a:ext>
            </a:extLst>
          </p:cNvPr>
          <p:cNvSpPr txBox="1"/>
          <p:nvPr/>
        </p:nvSpPr>
        <p:spPr>
          <a:xfrm>
            <a:off x="2143760" y="4207177"/>
            <a:ext cx="236728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1" i="1" dirty="0">
                <a:solidFill>
                  <a:srgbClr val="903627"/>
                </a:solidFill>
              </a:rPr>
              <a:t>HK$10.85M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rgbClr val="903627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8B47AE-8D2A-1135-45F2-5FDC33E3398D}"/>
              </a:ext>
            </a:extLst>
          </p:cNvPr>
          <p:cNvSpPr txBox="1"/>
          <p:nvPr/>
        </p:nvSpPr>
        <p:spPr>
          <a:xfrm>
            <a:off x="4801185" y="2403433"/>
            <a:ext cx="678124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Retail-bank investment-product sales doubled (2022-2024). 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76EC4E-BB40-89B8-BCF3-6B9AAAB55367}"/>
              </a:ext>
            </a:extLst>
          </p:cNvPr>
          <p:cNvSpPr txBox="1"/>
          <p:nvPr/>
        </p:nvSpPr>
        <p:spPr>
          <a:xfrm>
            <a:off x="4800902" y="3220578"/>
            <a:ext cx="629002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Securities, futures &amp; asset-management client accounts (up from 3.71M). 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330DB8-E713-0738-E24D-19CCBD2CC12D}"/>
              </a:ext>
            </a:extLst>
          </p:cNvPr>
          <p:cNvSpPr txBox="1"/>
          <p:nvPr/>
        </p:nvSpPr>
        <p:spPr>
          <a:xfrm>
            <a:off x="4800902" y="4208341"/>
            <a:ext cx="66935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903627"/>
                </a:solidFill>
              </a:rPr>
              <a:t>SFC fine on a bank for product due-diligence &amp; record-keeping failures (Dec 2025).</a:t>
            </a:r>
            <a:endParaRPr lang="zh-CN" altLang="en-US" sz="2000" dirty="0">
              <a:solidFill>
                <a:srgbClr val="903627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8B5D91-17A5-6FA7-7F8A-4347D8370768}"/>
              </a:ext>
            </a:extLst>
          </p:cNvPr>
          <p:cNvSpPr txBox="1"/>
          <p:nvPr/>
        </p:nvSpPr>
        <p:spPr>
          <a:xfrm>
            <a:off x="6217920" y="6316471"/>
            <a:ext cx="590375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Sources: SFC &amp; HKMA joint press release, 11 Dec 2025 — EFG Bank AG fined HK$10.85M for product due-diligence, record-keeping &amp; late-reporting failures (2015–2020).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HK】成本具體：430 萬投資賬戶、銷售量翻倍、證監會千萬級罰款案例——行為缺口會變成真金白銀。</a:t>
            </a:r>
            <a:br/>
            <a:r>
              <a:t>【粵語口播】電梯演講可以用呢頁開場：一邊係生意升咗兩倍，一邊係監管罰款千萬港元——中間就差一個可解釋、可留痕嘅 AI 層。</a:t>
            </a:r>
          </a:p>
        </p:txBody>
      </p:sp>
    </p:spTree>
    <p:extLst>
      <p:ext uri="{BB962C8B-B14F-4D97-AF65-F5344CB8AC3E}">
        <p14:creationId xmlns:p14="http://schemas.microsoft.com/office/powerpoint/2010/main" val="18568896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68E5-6A41-285C-7D75-5076F582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0685EE-A7FA-0DB5-6CBF-0C63B6DF71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DB7C43-582D-3CD0-4AE7-28E0E0E12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7FB7841-AEEE-323B-82EC-BC1DC9E64A97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3.3 This is Where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FINANO Fits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C1897B-B6DD-F8CF-4908-5D197BA62190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Each pain point maps to one FINANO capability already shown in Section 1.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B9DBCB-7690-2E1A-23BD-EF9B4A493DDA}"/>
              </a:ext>
            </a:extLst>
          </p:cNvPr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FINANO runs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alongside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KYC — it closes the behavioral gap the questionnaire structurally cannot.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6F86182-D46E-4778-73A5-1ADD6FD63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564219"/>
              </p:ext>
            </p:extLst>
          </p:nvPr>
        </p:nvGraphicFramePr>
        <p:xfrm>
          <a:off x="2286306" y="1843180"/>
          <a:ext cx="9214814" cy="3171640"/>
        </p:xfrm>
        <a:graphic>
          <a:graphicData uri="http://schemas.openxmlformats.org/drawingml/2006/table">
            <a:tbl>
              <a:tblPr/>
              <a:tblGrid>
                <a:gridCol w="3896570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5318244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76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Pain Point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FINANO Fits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87774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Static, money-based KYC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behavioral layer, updated as the client trades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908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Behavioral blind spot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Bidirectional Replay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surfaces panic/FOMO/over-trading patterns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908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Mechanical matching ≠ compliance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MAFB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compliance agent auto-logs the rationale for each recommendation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HK】每個痛點對應 FINANO 一項能力；建議加 demo 頁：MAFB 控制台、FBTI、合規 JSON 輸出。</a:t>
            </a:r>
            <a:br/>
            <a:r>
              <a:t>【粵語口播】FINANO 唔取代 KYC，而係並行補位。現場最好 show 一個基金 code，幾十秒內出五個 agent 評分同合規結果。</a:t>
            </a:r>
          </a:p>
        </p:txBody>
      </p:sp>
    </p:spTree>
    <p:extLst>
      <p:ext uri="{BB962C8B-B14F-4D97-AF65-F5344CB8AC3E}">
        <p14:creationId xmlns:p14="http://schemas.microsoft.com/office/powerpoint/2010/main" val="260977272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D5EEF-202B-F460-374E-351C31BD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F024426-A2DB-A52A-BEDF-8D257705D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661732-3C54-588F-E5EF-DF6D80E09C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32FE475-4D66-71DF-A939-656116574A01}"/>
              </a:ext>
            </a:extLst>
          </p:cNvPr>
          <p:cNvSpPr txBox="1"/>
          <p:nvPr/>
        </p:nvSpPr>
        <p:spPr>
          <a:xfrm>
            <a:off x="1813851" y="2037399"/>
            <a:ext cx="1024795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4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Expected Result / Revenue Stream Forecast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HK】第四部：預期成果與收入模式。</a:t>
            </a:r>
            <a:br/>
            <a:r>
              <a:t>【粵語口播】講完痛點同方案，跟住答評審最關心：銀行點樣買？我哋點樣賺錢？</a:t>
            </a:r>
          </a:p>
        </p:txBody>
      </p:sp>
    </p:spTree>
    <p:extLst>
      <p:ext uri="{BB962C8B-B14F-4D97-AF65-F5344CB8AC3E}">
        <p14:creationId xmlns:p14="http://schemas.microsoft.com/office/powerpoint/2010/main" val="13141842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A898-89A0-9E49-7306-56978CB7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A562DEB-2331-D6FC-FB63-ED2F2C080D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7DC173-3BCF-1565-98C5-E56CC97B4C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459ABD7-4934-85F1-916A-369755AC4D3B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4.1 Three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Ways to Sell to Bank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616CDC-8DFE-7883-8B38-F823301611D6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We don't sell the website. We sell it three ways — matched to how banks actually buy.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8FF347-CB9F-CA74-B743-034625194E82}"/>
              </a:ext>
            </a:extLst>
          </p:cNvPr>
          <p:cNvSpPr txBox="1"/>
          <p:nvPr/>
        </p:nvSpPr>
        <p:spPr>
          <a:xfrm>
            <a:off x="1873961" y="5713987"/>
            <a:ext cx="1025166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For BOCHK, we propose the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Pilot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— and this competition is step one.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572C95-CC8C-5410-008C-12913D498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6363"/>
              </p:ext>
            </p:extLst>
          </p:nvPr>
        </p:nvGraphicFramePr>
        <p:xfrm>
          <a:off x="2051760" y="1849196"/>
          <a:ext cx="9896063" cy="3339202"/>
        </p:xfrm>
        <a:graphic>
          <a:graphicData uri="http://schemas.openxmlformats.org/drawingml/2006/table">
            <a:tbl>
              <a:tblPr/>
              <a:tblGrid>
                <a:gridCol w="1124773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2708197">
                  <a:extLst>
                    <a:ext uri="{9D8B030D-6E8A-4147-A177-3AD203B41FA5}">
                      <a16:colId xmlns:a16="http://schemas.microsoft.com/office/drawing/2014/main" val="2905689393"/>
                    </a:ext>
                  </a:extLst>
                </a:gridCol>
                <a:gridCol w="3121030">
                  <a:extLst>
                    <a:ext uri="{9D8B030D-6E8A-4147-A177-3AD203B41FA5}">
                      <a16:colId xmlns:a16="http://schemas.microsoft.com/office/drawing/2014/main" val="653252111"/>
                    </a:ext>
                  </a:extLst>
                </a:gridCol>
                <a:gridCol w="2942063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95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White-Label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API Licensing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Pilot Partnership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system, bank's brand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Buy modules API: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/ MAFB / Compliance-log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3-month PoC with BOCHK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Best for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Mid-size banks wanting a fast launch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Banks with their own app &amp; dev team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strategic partner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Priced by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 platform license + setup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Per-usage (per call), tiered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Paid pilot → converts to a license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D6A9B48E-ADDD-5DA8-0559-70C81D4AC1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155178" y="3043316"/>
            <a:ext cx="874261" cy="874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HK】三種售賣：按 RM 席位、按次 API（FBTI/MAFB）、年度白標平台費；中銀香港建議先做 Pilot。</a:t>
            </a:r>
            <a:br/>
            <a:r>
              <a:t>【粵語口播】我哋賣嘅唔係網站，係三種銀行慣常採購方式；今次比賽就係 pilot 第一步。</a:t>
            </a:r>
          </a:p>
        </p:txBody>
      </p:sp>
    </p:spTree>
    <p:extLst>
      <p:ext uri="{BB962C8B-B14F-4D97-AF65-F5344CB8AC3E}">
        <p14:creationId xmlns:p14="http://schemas.microsoft.com/office/powerpoint/2010/main" val="344984688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0E99-6F81-8C12-6ABE-E6C04A18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5A273AF-F459-0DB3-88D1-E5AD6BBF15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5ACE2D-3E68-5065-8169-B1B16A048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9F3BEF6-5188-4B0D-AF17-1D066089D395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4.2 Pricing &amp; Revenue Forecast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525AA8-3E23-761B-7BA5-BFB827A75409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We don't sell the website. We sell it three ways — matched to how banks actually buy.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18B27-6D53-E996-97D4-E75599E6086B}"/>
              </a:ext>
            </a:extLst>
          </p:cNvPr>
          <p:cNvSpPr txBox="1"/>
          <p:nvPr/>
        </p:nvSpPr>
        <p:spPr>
          <a:xfrm>
            <a:off x="1873961" y="5713987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Every bank we add is high-margin recurring revenue — the cost to serve barely moves.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70BEEF-6EB2-A24F-DC06-E7A9E1BF2A99}"/>
              </a:ext>
            </a:extLst>
          </p:cNvPr>
          <p:cNvSpPr txBox="1"/>
          <p:nvPr/>
        </p:nvSpPr>
        <p:spPr>
          <a:xfrm>
            <a:off x="3466873" y="1613194"/>
            <a:ext cx="184794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Pricing Levers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11AC24-ABB6-BD00-CABE-DCEBB8F52F73}"/>
              </a:ext>
            </a:extLst>
          </p:cNvPr>
          <p:cNvSpPr txBox="1"/>
          <p:nvPr/>
        </p:nvSpPr>
        <p:spPr>
          <a:xfrm>
            <a:off x="7534304" y="1613194"/>
            <a:ext cx="46478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Simplified Forecast (illustrative)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8730BFE-5F69-837A-118D-DC708B254C53}"/>
              </a:ext>
            </a:extLst>
          </p:cNvPr>
          <p:cNvSpPr/>
          <p:nvPr/>
        </p:nvSpPr>
        <p:spPr>
          <a:xfrm>
            <a:off x="2068283" y="222087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DF7B9E-9B18-18B3-0E73-0F23F4FB4CD7}"/>
              </a:ext>
            </a:extLst>
          </p:cNvPr>
          <p:cNvSpPr txBox="1"/>
          <p:nvPr/>
        </p:nvSpPr>
        <p:spPr>
          <a:xfrm>
            <a:off x="2120256" y="2174808"/>
            <a:ext cx="4645129" cy="33733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Per-seat</a:t>
            </a:r>
            <a:r>
              <a:rPr lang="en-US" altLang="zh-CN" dirty="0"/>
              <a:t> — annual license per RM / advisor using the MAFB console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Per-usage</a:t>
            </a:r>
            <a:r>
              <a:rPr lang="en-US" altLang="zh-CN" dirty="0"/>
              <a:t> — per FBTI assessment or per MAFB analysis (API)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Annual license</a:t>
            </a:r>
            <a:r>
              <a:rPr lang="en-US" altLang="zh-CN" dirty="0"/>
              <a:t> — flat platform fee + setup (white-label)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Floor rule</a:t>
            </a:r>
            <a:r>
              <a:rPr lang="en-US" altLang="zh-CN" dirty="0"/>
              <a:t> — every price sits </a:t>
            </a:r>
            <a:r>
              <a:rPr lang="en-US" altLang="zh-CN" b="1" dirty="0"/>
              <a:t>above the per-analysis compute cost</a:t>
            </a:r>
            <a:r>
              <a:rPr lang="en-US" altLang="zh-CN" dirty="0"/>
              <a:t> (detail in §5)</a:t>
            </a:r>
            <a:endParaRPr lang="zh-CN" altLang="en-US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3E920C-8379-5073-143A-1C2B0897F9B7}"/>
              </a:ext>
            </a:extLst>
          </p:cNvPr>
          <p:cNvSpPr/>
          <p:nvPr/>
        </p:nvSpPr>
        <p:spPr>
          <a:xfrm>
            <a:off x="7253959" y="222087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2F6C67-3254-B19F-5790-A8D73BDAAA6F}"/>
              </a:ext>
            </a:extLst>
          </p:cNvPr>
          <p:cNvSpPr txBox="1"/>
          <p:nvPr/>
        </p:nvSpPr>
        <p:spPr>
          <a:xfrm>
            <a:off x="7447473" y="2702443"/>
            <a:ext cx="4645129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Formula: </a:t>
            </a:r>
            <a:r>
              <a:rPr lang="en-US" altLang="zh-CN" b="1" dirty="0"/>
              <a:t>ARR = # banks × avg ACV</a:t>
            </a:r>
            <a:r>
              <a:rPr lang="en-US" altLang="zh-C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Y1: </a:t>
            </a:r>
            <a:r>
              <a:rPr lang="en-US" altLang="zh-CN" b="1" dirty="0"/>
              <a:t>1</a:t>
            </a:r>
            <a:r>
              <a:rPr lang="en-US" altLang="zh-CN" dirty="0"/>
              <a:t> (BOCHK pilot)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→ Y2: 3 → Y3: </a:t>
            </a:r>
            <a:r>
              <a:rPr lang="en-US" altLang="zh-CN" b="1" dirty="0"/>
              <a:t>4</a:t>
            </a:r>
            <a:r>
              <a:rPr lang="en-US" altLang="zh-CN" dirty="0"/>
              <a:t> banks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Illustrative ACV ≈ </a:t>
            </a:r>
            <a:r>
              <a:rPr lang="en-US" altLang="zh-CN" b="1" dirty="0"/>
              <a:t>US$150K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→ </a:t>
            </a:r>
            <a:r>
              <a:rPr lang="en-US" altLang="zh-CN" b="1" dirty="0"/>
              <a:t>Y3 ARR ≈ US$0.6M</a:t>
            </a:r>
            <a:r>
              <a:rPr lang="en-US" altLang="zh-C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i="1" dirty="0"/>
              <a:t>All figures illustrative — to be validated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5ED1EE-2776-DE69-A8EB-A6188B8B569D}"/>
              </a:ext>
            </a:extLst>
          </p:cNvPr>
          <p:cNvSpPr txBox="1"/>
          <p:nvPr/>
        </p:nvSpPr>
        <p:spPr>
          <a:xfrm>
            <a:off x="7867916" y="6341470"/>
            <a:ext cx="413512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Figures illustrative; ACV and bank-count are team assumptions to be validated against comparable </a:t>
            </a:r>
            <a:r>
              <a:rPr lang="en-US" altLang="zh-CN" sz="1200" i="1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wealthtech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vendor deals.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HK】示意：Y1 一間（中銀香港）→ Y3 四間銀行；ACV 約 15 萬美元；邊際服務成本幾乎唔變。</a:t>
            </a:r>
            <a:br/>
            <a:r>
              <a:t>【粵語口播】每加多一間銀行，收入上去，但 backend 成本唔係線性上升——呢個就係 B2B SaaS 吸引力。</a:t>
            </a:r>
          </a:p>
        </p:txBody>
      </p:sp>
    </p:spTree>
    <p:extLst>
      <p:ext uri="{BB962C8B-B14F-4D97-AF65-F5344CB8AC3E}">
        <p14:creationId xmlns:p14="http://schemas.microsoft.com/office/powerpoint/2010/main" val="331033150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2794-F77E-28AC-7992-3459C60F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A7E572-FC6F-F873-1CCE-7D34D9DDC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32A253-296A-C2CE-A632-983B1AD81E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CE8BA00-75E7-277E-212F-511720FBE803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4.3 The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Pilot: What We’ll Prove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7A8B07-68D4-9897-8253-E3A94BB0FDFB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3-month A/B pilot with BOCHK — FINANO arm vs. a traditional-KYC control group.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15FAD1-2E1A-1CF6-FF28-2D9C503F7A66}"/>
              </a:ext>
            </a:extLst>
          </p:cNvPr>
          <p:cNvSpPr txBox="1"/>
          <p:nvPr/>
        </p:nvSpPr>
        <p:spPr>
          <a:xfrm>
            <a:off x="1873961" y="572513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= a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measurable lift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in suitability and compliance efficiency — proof we can scale to other GBA banks.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118CD9A-56DB-2C7A-2555-7BC2F6A71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717935"/>
              </p:ext>
            </p:extLst>
          </p:nvPr>
        </p:nvGraphicFramePr>
        <p:xfrm>
          <a:off x="2024154" y="1673482"/>
          <a:ext cx="9951276" cy="3749785"/>
        </p:xfrm>
        <a:graphic>
          <a:graphicData uri="http://schemas.openxmlformats.org/drawingml/2006/table">
            <a:tbl>
              <a:tblPr/>
              <a:tblGrid>
                <a:gridCol w="3072526">
                  <a:extLst>
                    <a:ext uri="{9D8B030D-6E8A-4147-A177-3AD203B41FA5}">
                      <a16:colId xmlns:a16="http://schemas.microsoft.com/office/drawing/2014/main" val="2905689393"/>
                    </a:ext>
                  </a:extLst>
                </a:gridCol>
                <a:gridCol w="4974754">
                  <a:extLst>
                    <a:ext uri="{9D8B030D-6E8A-4147-A177-3AD203B41FA5}">
                      <a16:colId xmlns:a16="http://schemas.microsoft.com/office/drawing/2014/main" val="653252111"/>
                    </a:ext>
                  </a:extLst>
                </a:gridCol>
                <a:gridCol w="1903996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294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Metric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we measure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Target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Suitability match rate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of recommendations clients accept as suitable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Unsuitable flags caught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mismatches blocked by the profiling threshold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caught earlier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logging time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minutes to document each recommendation's rationale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Young-client uptake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product conversion in the 25–35 segment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4267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 satisfaction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NPS / CSAT vs. control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674104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Complaint rate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investment-product complaints per 1,000 clients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96565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HK】三個月 A/B pilot：FINANO 組 vs 傳統 KYC 對照；成功指標：適當性提升、合規記錄工時下降。</a:t>
            </a:r>
            <a:br/>
            <a:r>
              <a:t>【粵語口播】我哋參加 BOCHK Challenge，就係想贏到同中銀香港落地 PoC 嘅機會——用數據證明可以複製去其他大灣區銀行。</a:t>
            </a:r>
          </a:p>
        </p:txBody>
      </p:sp>
    </p:spTree>
    <p:extLst>
      <p:ext uri="{BB962C8B-B14F-4D97-AF65-F5344CB8AC3E}">
        <p14:creationId xmlns:p14="http://schemas.microsoft.com/office/powerpoint/2010/main" val="242308081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6CDC-F327-2DD1-99BC-A909D0E9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8DB6F6-F4C4-6359-95C8-652EEA6965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EEF172-9D68-D975-6822-9809AE58EF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20E798C-1B9F-F1A7-65BA-F96E0BA533CA}"/>
              </a:ext>
            </a:extLst>
          </p:cNvPr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5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Cost and Benefit Analysis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HK】第五部：成本效益——銀行 ROI 同我哋定價底線。</a:t>
            </a:r>
            <a:br/>
            <a:r>
              <a:t>【粵語口播】評審如果問「銀行點解要俾錢」，呢 part 就係答案。</a:t>
            </a:r>
          </a:p>
        </p:txBody>
      </p:sp>
    </p:spTree>
    <p:extLst>
      <p:ext uri="{BB962C8B-B14F-4D97-AF65-F5344CB8AC3E}">
        <p14:creationId xmlns:p14="http://schemas.microsoft.com/office/powerpoint/2010/main" val="35627922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9A9A-3E74-BB13-14E6-76D1B9FF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DFC111-E492-8029-B4DE-6D4F2DC715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F3966F-AE9D-B40F-38DB-A942EE9EFA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E20334E-CDD5-C186-DBCF-96F88ABA57B2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5.1 What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the Bank Gains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2FC4F2-0393-CF29-1AFD-117AC3B8BF9B}"/>
              </a:ext>
            </a:extLst>
          </p:cNvPr>
          <p:cNvSpPr txBox="1"/>
          <p:nvPr/>
        </p:nvSpPr>
        <p:spPr>
          <a:xfrm>
            <a:off x="1784892" y="943661"/>
            <a:ext cx="10429799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FINANO pays for itself through four bank-side gains — three save cost, one grows revenue.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1FCB00-AB9F-8A5E-2D44-917491F32F7A}"/>
              </a:ext>
            </a:extLst>
          </p:cNvPr>
          <p:cNvSpPr txBox="1"/>
          <p:nvPr/>
        </p:nvSpPr>
        <p:spPr>
          <a:xfrm>
            <a:off x="1873961" y="572513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Three of these cut cost, one grows the book — the value to the bank is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concrete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, not cosmetic.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5F7B80D-C2D4-6F53-B144-520157318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30542"/>
              </p:ext>
            </p:extLst>
          </p:nvPr>
        </p:nvGraphicFramePr>
        <p:xfrm>
          <a:off x="2255224" y="1768522"/>
          <a:ext cx="9489134" cy="3902529"/>
        </p:xfrm>
        <a:graphic>
          <a:graphicData uri="http://schemas.openxmlformats.org/drawingml/2006/table">
            <a:tbl>
              <a:tblPr/>
              <a:tblGrid>
                <a:gridCol w="2604837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1328732">
                  <a:extLst>
                    <a:ext uri="{9D8B030D-6E8A-4147-A177-3AD203B41FA5}">
                      <a16:colId xmlns:a16="http://schemas.microsoft.com/office/drawing/2014/main" val="513878979"/>
                    </a:ext>
                  </a:extLst>
                </a:gridCol>
                <a:gridCol w="5555565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151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it</a:t>
                      </a: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7349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Lower compliance cost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agent auto-logs each recommendation's rationale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7951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Fewer complaints &amp; remediation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Suitability-first matching catches mismatches before the sale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69545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Higher conversion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Behavior-matched recommendations clients actually accept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  <a:tr h="72521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 younger clients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+ Bidirectional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Replay as a sticky layer for the 25–35 segment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29338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HK】銀行四項收益：減投訴/罰款、減 RM 文書工時、提升交叉銷售、提升留存；三項慳成本、一項增收入。</a:t>
            </a:r>
            <a:br/>
            <a:r>
              <a:t>【粵語口播】對銀行嚟講，唔係花俏科技，係慳錢同頂順監管——呢個先係真 ROI。</a:t>
            </a:r>
          </a:p>
        </p:txBody>
      </p:sp>
    </p:spTree>
    <p:extLst>
      <p:ext uri="{BB962C8B-B14F-4D97-AF65-F5344CB8AC3E}">
        <p14:creationId xmlns:p14="http://schemas.microsoft.com/office/powerpoint/2010/main" val="287844266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64FE-BC6C-5607-7403-F4E7C7D1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BE5175-D846-021B-9F47-C947D41BCD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7C67E7-7C62-7A44-D69F-4147283A18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9B64FF3-3A8B-2252-B520-A1D20E8AD4D3}"/>
              </a:ext>
            </a:extLst>
          </p:cNvPr>
          <p:cNvSpPr txBox="1"/>
          <p:nvPr/>
        </p:nvSpPr>
        <p:spPr>
          <a:xfrm>
            <a:off x="1848896" y="88020"/>
            <a:ext cx="855821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5.2 Our</a:t>
            </a:r>
            <a:r>
              <a:rPr lang="zh-CN" altLang="en-US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Cost Structure &amp; the Pricing Floor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3D2376-28E2-598B-3973-F2B49DE7BB99}"/>
              </a:ext>
            </a:extLst>
          </p:cNvPr>
          <p:cNvSpPr txBox="1"/>
          <p:nvPr/>
        </p:nvSpPr>
        <p:spPr>
          <a:xfrm>
            <a:off x="3466872" y="1775754"/>
            <a:ext cx="218208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Cost Structure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0A6B5-151E-E6EF-D154-3F7AB14075F3}"/>
              </a:ext>
            </a:extLst>
          </p:cNvPr>
          <p:cNvSpPr txBox="1"/>
          <p:nvPr/>
        </p:nvSpPr>
        <p:spPr>
          <a:xfrm>
            <a:off x="8584842" y="1775754"/>
            <a:ext cx="241233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The Pricing Floor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F4E72E9-F174-ED40-E0DE-4ACFF78C2A8E}"/>
              </a:ext>
            </a:extLst>
          </p:cNvPr>
          <p:cNvSpPr/>
          <p:nvPr/>
        </p:nvSpPr>
        <p:spPr>
          <a:xfrm>
            <a:off x="2068283" y="238343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B30D10-F4CD-1B8C-5DB1-0A1D94654C96}"/>
              </a:ext>
            </a:extLst>
          </p:cNvPr>
          <p:cNvSpPr txBox="1"/>
          <p:nvPr/>
        </p:nvSpPr>
        <p:spPr>
          <a:xfrm>
            <a:off x="2120256" y="2547408"/>
            <a:ext cx="4645129" cy="2957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R&amp;D </a:t>
            </a:r>
            <a:r>
              <a:rPr lang="en-US" altLang="zh-CN" dirty="0"/>
              <a:t>— engineering team (largely fixed, already built)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Compute </a:t>
            </a:r>
            <a:r>
              <a:rPr lang="en-US" altLang="zh-CN" dirty="0"/>
              <a:t>— per MAFB analysis: 5 agents + compliance review ← the key variable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Data APIs </a:t>
            </a:r>
            <a:r>
              <a:rPr lang="en-US" altLang="zh-CN" dirty="0"/>
              <a:t>— fund NAV / market data feeds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Ops &amp; hosting </a:t>
            </a:r>
            <a:r>
              <a:rPr lang="en-US" altLang="zh-CN" dirty="0"/>
              <a:t>— servers, vector DB, maintenance</a:t>
            </a:r>
            <a:endParaRPr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87C8A78-B603-0394-B038-51EA46CC7B85}"/>
              </a:ext>
            </a:extLst>
          </p:cNvPr>
          <p:cNvSpPr/>
          <p:nvPr/>
        </p:nvSpPr>
        <p:spPr>
          <a:xfrm>
            <a:off x="7253959" y="238343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FD9175-F2E3-3AA0-6A36-8DFC908A01AA}"/>
              </a:ext>
            </a:extLst>
          </p:cNvPr>
          <p:cNvSpPr txBox="1"/>
          <p:nvPr/>
        </p:nvSpPr>
        <p:spPr>
          <a:xfrm>
            <a:off x="7486363" y="2755156"/>
            <a:ext cx="4284268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highlight>
                  <a:srgbClr val="FFFF00"/>
                </a:highlight>
              </a:rPr>
              <a:t>Cost per MAFB analysis ≈ HK$[ ___ 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Rule: </a:t>
            </a:r>
            <a:r>
              <a:rPr lang="en-US" altLang="zh-CN" b="1" dirty="0"/>
              <a:t>price per analysis &gt; compute cost per analysis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Levers that lower the floor: hybrid model routing, semantic caching (avoids re-running duplicate queries)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089251-D4BF-40DD-F503-DC08439934F0}"/>
              </a:ext>
            </a:extLst>
          </p:cNvPr>
          <p:cNvSpPr txBox="1"/>
          <p:nvPr/>
        </p:nvSpPr>
        <p:spPr>
          <a:xfrm>
            <a:off x="8097520" y="6259034"/>
            <a:ext cx="390551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4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Compute cost per analysis to be supplied by engineering team (based on actual model-call logs).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812D10-424F-1B94-5367-51E3231C9710}"/>
              </a:ext>
            </a:extLst>
          </p:cNvPr>
          <p:cNvSpPr txBox="1"/>
          <p:nvPr/>
        </p:nvSpPr>
        <p:spPr>
          <a:xfrm>
            <a:off x="1784892" y="943661"/>
            <a:ext cx="10429799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The compute cost per MAFB analysis: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HK】成本：研發固定、MAFB 按次 GenAI 計算係變量；可用 API routing 同本地 LLM fallback 控制 token 成本。</a:t>
            </a:r>
            <a:br/>
            <a:r>
              <a:t>【粵語口播】記得填返單次 MAFB 嘅港元成本；定價一定要高過邊際運算成本，呢個係 SaaS 健康嘅底線。</a:t>
            </a:r>
          </a:p>
        </p:txBody>
      </p:sp>
    </p:spTree>
    <p:extLst>
      <p:ext uri="{BB962C8B-B14F-4D97-AF65-F5344CB8AC3E}">
        <p14:creationId xmlns:p14="http://schemas.microsoft.com/office/powerpoint/2010/main" val="112322773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BCA2-8AB5-D21C-6188-B794936B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04976DD-D109-358D-B6EF-6306364495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E78505-12D9-6CA2-C8C1-D4EB0C20D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2C2762D-12C7-1343-2856-F455F9B69387}"/>
              </a:ext>
            </a:extLst>
          </p:cNvPr>
          <p:cNvSpPr txBox="1"/>
          <p:nvPr/>
        </p:nvSpPr>
        <p:spPr>
          <a:xfrm>
            <a:off x="1848896" y="88020"/>
            <a:ext cx="855821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5.3 Break-Even Logic: Counted in Banks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EE62AE-3BDB-1DB6-9C77-0EBA6BCAA50B}"/>
              </a:ext>
            </a:extLst>
          </p:cNvPr>
          <p:cNvSpPr txBox="1"/>
          <p:nvPr/>
        </p:nvSpPr>
        <p:spPr>
          <a:xfrm>
            <a:off x="2621780" y="2123804"/>
            <a:ext cx="22172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Fixed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Cost / Year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CC5C5C-BDEC-B861-DEA0-B650D5145255}"/>
              </a:ext>
            </a:extLst>
          </p:cNvPr>
          <p:cNvSpPr txBox="1"/>
          <p:nvPr/>
        </p:nvSpPr>
        <p:spPr>
          <a:xfrm>
            <a:off x="1848896" y="784903"/>
            <a:ext cx="10429799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Because our costs are mostly fixed, break-even depends on one thing — how many banks we sign.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19189C-EC9C-38A5-FF50-3100A23F3BB2}"/>
              </a:ext>
            </a:extLst>
          </p:cNvPr>
          <p:cNvSpPr txBox="1"/>
          <p:nvPr/>
        </p:nvSpPr>
        <p:spPr>
          <a:xfrm>
            <a:off x="5423910" y="2123804"/>
            <a:ext cx="282891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Contribution / Bank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F015F2-9659-30F1-3198-C9C68AF2B4FA}"/>
              </a:ext>
            </a:extLst>
          </p:cNvPr>
          <p:cNvSpPr txBox="1"/>
          <p:nvPr/>
        </p:nvSpPr>
        <p:spPr>
          <a:xfrm>
            <a:off x="8837670" y="2123803"/>
            <a:ext cx="167067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Break-Even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7D6F0F-1B9F-F45E-D2FC-97EDCCB281E6}"/>
              </a:ext>
            </a:extLst>
          </p:cNvPr>
          <p:cNvSpPr txBox="1"/>
          <p:nvPr/>
        </p:nvSpPr>
        <p:spPr>
          <a:xfrm>
            <a:off x="2960801" y="2832180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R&amp;D + ops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BC9363-8C46-4C3B-F2FE-0453709A0CE4}"/>
              </a:ext>
            </a:extLst>
          </p:cNvPr>
          <p:cNvSpPr txBox="1"/>
          <p:nvPr/>
        </p:nvSpPr>
        <p:spPr>
          <a:xfrm>
            <a:off x="5523371" y="2832180"/>
            <a:ext cx="28289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ACV </a:t>
            </a:r>
            <a:r>
              <a:rPr lang="en-US" altLang="zh-CN" b="1" dirty="0"/>
              <a:t>−</a:t>
            </a:r>
            <a:r>
              <a:rPr lang="en-US" altLang="zh-CN" dirty="0"/>
              <a:t> compute-per-bank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B527EB-620F-2F66-CBB9-F3F36C31FA8B}"/>
              </a:ext>
            </a:extLst>
          </p:cNvPr>
          <p:cNvSpPr txBox="1"/>
          <p:nvPr/>
        </p:nvSpPr>
        <p:spPr>
          <a:xfrm>
            <a:off x="8915400" y="2832180"/>
            <a:ext cx="177582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banks needed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F7C1AB-E618-6877-A055-FC8860F146CD}"/>
              </a:ext>
            </a:extLst>
          </p:cNvPr>
          <p:cNvSpPr txBox="1"/>
          <p:nvPr/>
        </p:nvSpPr>
        <p:spPr>
          <a:xfrm>
            <a:off x="2960801" y="3428998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HK$ </a:t>
            </a:r>
            <a:r>
              <a:rPr lang="en-US" altLang="zh-CN" dirty="0" err="1"/>
              <a:t>xxxxxx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D425EA-639E-EC30-9C15-81430E4294FC}"/>
              </a:ext>
            </a:extLst>
          </p:cNvPr>
          <p:cNvSpPr txBox="1"/>
          <p:nvPr/>
        </p:nvSpPr>
        <p:spPr>
          <a:xfrm>
            <a:off x="6294175" y="3410015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HK$ </a:t>
            </a:r>
            <a:r>
              <a:rPr lang="en-US" altLang="zh-CN" dirty="0" err="1"/>
              <a:t>xxxxxx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911808-2A1A-A11D-E635-5254C0545773}"/>
              </a:ext>
            </a:extLst>
          </p:cNvPr>
          <p:cNvSpPr txBox="1"/>
          <p:nvPr/>
        </p:nvSpPr>
        <p:spPr>
          <a:xfrm>
            <a:off x="9151983" y="3382832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 err="1"/>
              <a:t>Xxx</a:t>
            </a:r>
            <a:r>
              <a:rPr lang="en-US" altLang="zh-CN" dirty="0"/>
              <a:t> banks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HK】固定成本為主，盈虧平衡取決於簽約銀行數目；提交前請替換 placeholder 數字。</a:t>
            </a:r>
            <a:br/>
            <a:r>
              <a:t>【粵語口播】我哋唔使幾百萬用戶先 breakeven——簽到幾間銀行就夠，因為 ACV 高、邊際成本低。</a:t>
            </a:r>
          </a:p>
        </p:txBody>
      </p:sp>
    </p:spTree>
    <p:extLst>
      <p:ext uri="{BB962C8B-B14F-4D97-AF65-F5344CB8AC3E}">
        <p14:creationId xmlns:p14="http://schemas.microsoft.com/office/powerpoint/2010/main" val="192886527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CFA9-CBD6-348C-E9A8-F807BE08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D12994-D819-C6BE-4AFB-98A8C94BC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2E6446-91C4-949C-F753-F6DD96AA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ECB86BF-C6A1-66D7-1BC5-6059F0CAC0AE}"/>
              </a:ext>
            </a:extLst>
          </p:cNvPr>
          <p:cNvSpPr txBox="1"/>
          <p:nvPr/>
        </p:nvSpPr>
        <p:spPr>
          <a:xfrm>
            <a:off x="2428583" y="2037399"/>
            <a:ext cx="9018489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6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Anticipated Challenges &amp; Solutions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11521440" cy="1417320"/>
          </a:xfrm>
          <a:prstGeom prst="rect">
            <a:avLst/>
          </a:prstGeom>
          <a:solidFill>
            <a:srgbClr val="E8F4FC"/>
          </a:solidFill>
          <a:ln>
            <a:solidFill>
              <a:srgbClr val="1A73E8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A477A"/>
                </a:solidFill>
              </a:defRPr>
            </a:pPr>
            <a:r>
              <a:t>【繁體 · HK】挑戰與對策：①監管邊界→決策輔助+合規節點+人工覆核；② GenAI 成本/延遲→快取+規則降級；③數據可靠性→快照+節流；④銀行集成→白標 API/RM 控制台試點。</a:t>
            </a:r>
            <a:br/>
            <a:r>
              <a:t>【粵語口播】最後預先答四條刁難：唔係持牌投顾、成本可控、數據唔會拖死系統、接入由 pilot 做起，唔會話一次過取代 core banking。</a:t>
            </a:r>
          </a:p>
        </p:txBody>
      </p:sp>
    </p:spTree>
    <p:extLst>
      <p:ext uri="{BB962C8B-B14F-4D97-AF65-F5344CB8AC3E}">
        <p14:creationId xmlns:p14="http://schemas.microsoft.com/office/powerpoint/2010/main" val="338033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1751</Words>
  <Application>Microsoft Macintosh PowerPoint</Application>
  <PresentationFormat>宽屏</PresentationFormat>
  <Paragraphs>267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Yu Gothic</vt:lpstr>
      <vt:lpstr>Arial</vt:lpstr>
      <vt:lpstr>Calibri</vt:lpstr>
      <vt:lpstr>Calibri Light</vt:lpstr>
      <vt:lpstr>Office Theme</vt:lpstr>
      <vt:lpstr>中銀香港創新先驅大賽2026計劃書 BOCHK Challenge 2026 Proposal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中銀香港創新先驅大賽2020-21計劃書 BOCHK Challenge 2020-21 Proposal</dc:title>
  <dc:creator>CHOW SAI YAT MORRIS (周世逸)</dc:creator>
  <cp:lastModifiedBy>Akane Ayama</cp:lastModifiedBy>
  <cp:revision>97</cp:revision>
  <dcterms:modified xsi:type="dcterms:W3CDTF">2026-06-09T06:30:48Z</dcterms:modified>
</cp:coreProperties>
</file>